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6" r:id="rId10"/>
    <p:sldId id="278" r:id="rId11"/>
    <p:sldId id="265" r:id="rId12"/>
    <p:sldId id="280" r:id="rId13"/>
    <p:sldId id="279" r:id="rId14"/>
    <p:sldId id="267" r:id="rId15"/>
    <p:sldId id="268" r:id="rId16"/>
    <p:sldId id="270" r:id="rId17"/>
    <p:sldId id="269" r:id="rId18"/>
    <p:sldId id="272" r:id="rId19"/>
    <p:sldId id="281" r:id="rId20"/>
    <p:sldId id="271" r:id="rId21"/>
    <p:sldId id="274" r:id="rId22"/>
    <p:sldId id="273" r:id="rId23"/>
    <p:sldId id="282" r:id="rId24"/>
    <p:sldId id="275" r:id="rId25"/>
    <p:sldId id="276" r:id="rId26"/>
    <p:sldId id="277" r:id="rId27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D:\Kuliah%20Ona\bootcamp%20excel\DummyDataExcel_Fashion_2025_Day3_4%20(1)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D:\Kuliah%20Ona\bootcamp%20excel\DummyDataExcel_Fashion_2025_Day3_4%20(1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[DummyDataExcel_Fashion_2025_Day3_4 (1).xlsx]Tugas Pivot!PivotTable8</c:name>
    <c:fmtId val="-1"/>
  </c:pivotSource>
  <c:chart>
    <c:autoTitleDeleted val="1"/>
    <c:pivotFmts>
      <c:pivotFmt>
        <c:idx val="0"/>
        <c:spPr>
          <a:ln>
            <a:solidFill>
              <a:schemeClr val="bg2">
                <a:lumMod val="25000"/>
              </a:schemeClr>
            </a:solidFill>
          </a:ln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ln>
            <a:solidFill>
              <a:schemeClr val="bg2">
                <a:lumMod val="25000"/>
              </a:schemeClr>
            </a:solidFill>
          </a:ln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ln>
            <a:solidFill>
              <a:schemeClr val="bg2">
                <a:lumMod val="25000"/>
              </a:schemeClr>
            </a:solidFill>
          </a:ln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'Tugas Pivot'!$J$3</c:f>
              <c:strCache>
                <c:ptCount val="1"/>
                <c:pt idx="0">
                  <c:v>Total</c:v>
                </c:pt>
              </c:strCache>
            </c:strRef>
          </c:tx>
          <c:spPr>
            <a:ln>
              <a:solidFill>
                <a:schemeClr val="bg2">
                  <a:lumMod val="25000"/>
                </a:schemeClr>
              </a:solidFill>
            </a:ln>
          </c:spPr>
          <c:marker>
            <c:symbol val="none"/>
          </c:marker>
          <c:cat>
            <c:strRef>
              <c:f>'Tugas Pivot'!$I$4:$I$15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'Tugas Pivot'!$J$4:$J$15</c:f>
              <c:numCache>
                <c:formatCode>_(* #,##0.00_);_(* \(#,##0.00\);_(* "-"??_);_(@_)</c:formatCode>
                <c:ptCount val="12"/>
                <c:pt idx="0">
                  <c:v>609042300</c:v>
                </c:pt>
                <c:pt idx="1">
                  <c:v>542703600</c:v>
                </c:pt>
                <c:pt idx="2">
                  <c:v>590462400</c:v>
                </c:pt>
                <c:pt idx="3">
                  <c:v>581873600</c:v>
                </c:pt>
                <c:pt idx="4">
                  <c:v>603705500</c:v>
                </c:pt>
                <c:pt idx="5">
                  <c:v>617871300</c:v>
                </c:pt>
                <c:pt idx="6">
                  <c:v>567159800</c:v>
                </c:pt>
                <c:pt idx="7">
                  <c:v>552094900</c:v>
                </c:pt>
                <c:pt idx="8">
                  <c:v>542245500</c:v>
                </c:pt>
                <c:pt idx="9">
                  <c:v>619206200</c:v>
                </c:pt>
                <c:pt idx="10">
                  <c:v>577520800</c:v>
                </c:pt>
                <c:pt idx="11">
                  <c:v>571918500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89C-4A5F-88B9-AB0695A935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7693056"/>
        <c:axId val="177694592"/>
      </c:lineChart>
      <c:catAx>
        <c:axId val="17769305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77694592"/>
        <c:crosses val="autoZero"/>
        <c:auto val="1"/>
        <c:lblAlgn val="ctr"/>
        <c:lblOffset val="100"/>
        <c:noMultiLvlLbl val="0"/>
      </c:catAx>
      <c:valAx>
        <c:axId val="177694592"/>
        <c:scaling>
          <c:orientation val="minMax"/>
        </c:scaling>
        <c:delete val="0"/>
        <c:axPos val="l"/>
        <c:majorGridlines/>
        <c:numFmt formatCode="_(* #,##0.00_);_(* \(#,##0.00\);_(* &quot;-&quot;??_);_(@_)" sourceLinked="1"/>
        <c:majorTickMark val="out"/>
        <c:minorTickMark val="none"/>
        <c:tickLblPos val="nextTo"/>
        <c:crossAx val="177693056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pivotSource>
    <c:name>[DummyDataExcel_Fashion_2025_Day3_4 (1).xlsx]Tugas Pivot!PivotTable9</c:name>
    <c:fmtId val="-1"/>
  </c:pivotSource>
  <c:chart>
    <c:autoTitleDeleted val="1"/>
    <c:pivotFmts>
      <c:pivotFmt>
        <c:idx val="0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id-ID"/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bg2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c:spPr>
      </c:pivotFmt>
      <c:pivotFmt>
        <c:idx val="2"/>
        <c:spPr>
          <a:solidFill>
            <a:schemeClr val="accent6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c:spPr>
      </c:pivotFmt>
      <c:pivotFmt>
        <c:idx val="3"/>
        <c:spPr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c:spPr>
      </c:pivotFmt>
      <c:pivotFmt>
        <c:idx val="4"/>
        <c:spPr>
          <a:solidFill>
            <a:schemeClr val="accent5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c:spPr>
      </c:pivotFmt>
      <c:pivotFmt>
        <c:idx val="5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id-ID"/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bg2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c:spPr>
      </c:pivotFmt>
      <c:pivotFmt>
        <c:idx val="7"/>
        <c:spPr>
          <a:solidFill>
            <a:schemeClr val="accent6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c:spPr>
      </c:pivotFmt>
      <c:pivotFmt>
        <c:idx val="8"/>
        <c:spPr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c:spPr>
      </c:pivotFmt>
      <c:pivotFmt>
        <c:idx val="9"/>
        <c:spPr>
          <a:solidFill>
            <a:schemeClr val="accent5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c:spPr>
      </c:pivotFmt>
      <c:pivotFmt>
        <c:idx val="10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id-ID"/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bg2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c:spPr>
      </c:pivotFmt>
      <c:pivotFmt>
        <c:idx val="12"/>
        <c:spPr>
          <a:solidFill>
            <a:schemeClr val="accent6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c:spPr>
      </c:pivotFmt>
      <c:pivotFmt>
        <c:idx val="13"/>
        <c:spPr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c:spPr>
      </c:pivotFmt>
      <c:pivotFmt>
        <c:idx val="14"/>
        <c:spPr>
          <a:solidFill>
            <a:schemeClr val="accent5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c:spPr>
      </c:pivotFmt>
    </c:pivotFmts>
    <c:plotArea>
      <c:layout/>
      <c:pieChart>
        <c:varyColors val="1"/>
        <c:ser>
          <c:idx val="0"/>
          <c:order val="0"/>
          <c:tx>
            <c:strRef>
              <c:f>'Tugas Pivot'!$O$3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bg2">
                  <a:lumMod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1-2B7F-42E8-AB33-DF507D29645B}"/>
              </c:ext>
            </c:extLst>
          </c:dPt>
          <c:dPt>
            <c:idx val="1"/>
            <c:bubble3D val="0"/>
            <c:spPr>
              <a:solidFill>
                <a:schemeClr val="accent6">
                  <a:lumMod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3-2B7F-42E8-AB33-DF507D29645B}"/>
              </c:ext>
            </c:extLst>
          </c:dPt>
          <c:dPt>
            <c:idx val="2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5-2B7F-42E8-AB33-DF507D29645B}"/>
              </c:ext>
            </c:extLst>
          </c:dPt>
          <c:dPt>
            <c:idx val="3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7-2B7F-42E8-AB33-DF507D29645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/>
                </a:pPr>
                <a:endParaRPr lang="id-ID"/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'Tugas Pivot'!$N$4:$N$7</c:f>
              <c:strCache>
                <c:ptCount val="4"/>
                <c:pt idx="0">
                  <c:v>COD</c:v>
                </c:pt>
                <c:pt idx="1">
                  <c:v>e-Wallet</c:v>
                </c:pt>
                <c:pt idx="2">
                  <c:v>Kartu Kredit</c:v>
                </c:pt>
                <c:pt idx="3">
                  <c:v>Transfer Bank</c:v>
                </c:pt>
              </c:strCache>
            </c:strRef>
          </c:cat>
          <c:val>
            <c:numRef>
              <c:f>'Tugas Pivot'!$O$4:$O$7</c:f>
              <c:numCache>
                <c:formatCode>_(* #,##0.00_);_(* \(#,##0.00\);_(* "-"??_);_(@_)</c:formatCode>
                <c:ptCount val="4"/>
                <c:pt idx="0">
                  <c:v>3803</c:v>
                </c:pt>
                <c:pt idx="1">
                  <c:v>3520</c:v>
                </c:pt>
                <c:pt idx="2">
                  <c:v>4062</c:v>
                </c:pt>
                <c:pt idx="3">
                  <c:v>3615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B7F-42E8-AB33-DF507D2964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>
        <c:manualLayout>
          <c:xMode val="edge"/>
          <c:yMode val="edge"/>
          <c:x val="0.62108200291509452"/>
          <c:y val="0.14944542839557348"/>
          <c:w val="0.37891799708490548"/>
          <c:h val="0.71005886578019028"/>
        </c:manualLayout>
      </c:layout>
      <c:overlay val="0"/>
    </c:legend>
    <c:plotVisOnly val="1"/>
    <c:dispBlanksAs val="gap"/>
    <c:showDLblsOverMax val="0"/>
  </c:chart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39c43229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39c43229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39c432292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39c432292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39c432292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39c432292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39c432292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39c432292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39c432292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39c432292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39c432292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39c432292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39c432292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39c432292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5615f025c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5615f025c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10310EEF-0491-F88E-B5EC-FA276A0C0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5615f025c_0_26:notes">
            <a:extLst>
              <a:ext uri="{FF2B5EF4-FFF2-40B4-BE49-F238E27FC236}">
                <a16:creationId xmlns:a16="http://schemas.microsoft.com/office/drawing/2014/main" id="{2819A86D-668B-8908-2822-3120B8B448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5615f025c_0_26:notes">
            <a:extLst>
              <a:ext uri="{FF2B5EF4-FFF2-40B4-BE49-F238E27FC236}">
                <a16:creationId xmlns:a16="http://schemas.microsoft.com/office/drawing/2014/main" id="{187EC968-E826-12C6-6A51-14C5FD5029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04202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5615f025c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5615f025c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3C13157F-D6A8-E36D-1A91-9BBE58E48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39c432292_0_56:notes">
            <a:extLst>
              <a:ext uri="{FF2B5EF4-FFF2-40B4-BE49-F238E27FC236}">
                <a16:creationId xmlns:a16="http://schemas.microsoft.com/office/drawing/2014/main" id="{7050D4A8-53BB-A8B9-4991-92DFE1CE23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39c432292_0_56:notes">
            <a:extLst>
              <a:ext uri="{FF2B5EF4-FFF2-40B4-BE49-F238E27FC236}">
                <a16:creationId xmlns:a16="http://schemas.microsoft.com/office/drawing/2014/main" id="{AC1369CB-B42A-8EDA-FBE4-4B873D7F50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5183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094A84C7-B00D-65CF-380F-A15867058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5615f025c_0_26:notes">
            <a:extLst>
              <a:ext uri="{FF2B5EF4-FFF2-40B4-BE49-F238E27FC236}">
                <a16:creationId xmlns:a16="http://schemas.microsoft.com/office/drawing/2014/main" id="{D91B97B9-4AF8-F54B-33F1-29037F8DDA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5615f025c_0_26:notes">
            <a:extLst>
              <a:ext uri="{FF2B5EF4-FFF2-40B4-BE49-F238E27FC236}">
                <a16:creationId xmlns:a16="http://schemas.microsoft.com/office/drawing/2014/main" id="{AD921435-BD02-31E4-E1AB-EB2B58B2FC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6764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5615f025c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5615f025c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5615f025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5615f025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5615f025c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5615f025c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5615f025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5615f025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5615f025c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5615f025c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336257AB-8739-6534-A1A2-D9B1A5AA2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5615f025c_0_42:notes">
            <a:extLst>
              <a:ext uri="{FF2B5EF4-FFF2-40B4-BE49-F238E27FC236}">
                <a16:creationId xmlns:a16="http://schemas.microsoft.com/office/drawing/2014/main" id="{C41B1CBA-612F-3D7A-DA0F-15328F1960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5615f025c_0_42:notes">
            <a:extLst>
              <a:ext uri="{FF2B5EF4-FFF2-40B4-BE49-F238E27FC236}">
                <a16:creationId xmlns:a16="http://schemas.microsoft.com/office/drawing/2014/main" id="{CBF67391-BB55-84AE-934A-B514614853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99016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5615f025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5615f025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5615f025c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e5615f025c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5615f025c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e5615f025c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D86BD897-275A-A260-86FF-09E07793C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5615f025c_0_30:notes">
            <a:extLst>
              <a:ext uri="{FF2B5EF4-FFF2-40B4-BE49-F238E27FC236}">
                <a16:creationId xmlns:a16="http://schemas.microsoft.com/office/drawing/2014/main" id="{1A714AC0-70BF-296A-8F92-43624F59F6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e5615f025c_0_30:notes">
            <a:extLst>
              <a:ext uri="{FF2B5EF4-FFF2-40B4-BE49-F238E27FC236}">
                <a16:creationId xmlns:a16="http://schemas.microsoft.com/office/drawing/2014/main" id="{4DEF918C-87E3-86B0-3D9B-FAA6173D06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166876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5615f025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e5615f025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5615f025c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e5615f025c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39c432292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d39c432292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9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4.png"/><Relationship Id="rId5" Type="http://schemas.openxmlformats.org/officeDocument/2006/relationships/chart" Target="../charts/chart2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5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7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p13" title="BT EXCEL - Batch 8 (7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3" name="Google Shape;63;p14" title="BT EXCEL - Batch 8 (8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5" title="BT EXCEL - Batch 8 (13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250" y="675550"/>
            <a:ext cx="2852925" cy="35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0" name="Google Shape;70;p15" title="BT EXCEL - Batch 8 (11)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3999300" y="675550"/>
            <a:ext cx="30000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4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Hi!</a:t>
            </a:r>
            <a:endParaRPr sz="40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4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Namaku…</a:t>
            </a:r>
            <a:endParaRPr sz="2800" dirty="0">
              <a:solidFill>
                <a:schemeClr val="dk1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3999300" y="2091550"/>
            <a:ext cx="4728321" cy="2657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Siti Jahrona Rambe</a:t>
            </a:r>
            <a:endParaRPr sz="1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dirty="0">
                <a:solidFill>
                  <a:schemeClr val="dk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Tujuan Mengikuti Bootcamp :</a:t>
            </a:r>
            <a:endParaRPr dirty="0">
              <a:solidFill>
                <a:schemeClr val="dk1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444500" lvl="0" indent="-342900" algn="just">
              <a:buClr>
                <a:schemeClr val="dk1"/>
              </a:buClr>
              <a:buSzPts val="2000"/>
              <a:buAutoNum type="arabicPeriod"/>
            </a:pPr>
            <a:r>
              <a:rPr lang="en-ID" dirty="0" err="1">
                <a:latin typeface="Poppins" panose="00000500000000000000" pitchFamily="2" charset="0"/>
                <a:cs typeface="Poppins" panose="00000500000000000000" pitchFamily="2" charset="0"/>
              </a:rPr>
              <a:t>Meningkatkan</a:t>
            </a:r>
            <a:r>
              <a:rPr lang="en-ID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dirty="0" err="1">
                <a:latin typeface="Poppins" panose="00000500000000000000" pitchFamily="2" charset="0"/>
                <a:cs typeface="Poppins" panose="00000500000000000000" pitchFamily="2" charset="0"/>
              </a:rPr>
              <a:t>kemampuan</a:t>
            </a:r>
            <a:r>
              <a:rPr lang="en-ID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dirty="0" err="1">
                <a:latin typeface="Poppins" panose="00000500000000000000" pitchFamily="2" charset="0"/>
                <a:cs typeface="Poppins" panose="00000500000000000000" pitchFamily="2" charset="0"/>
              </a:rPr>
              <a:t>dalam</a:t>
            </a:r>
            <a:r>
              <a:rPr lang="en-ID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dirty="0" err="1">
                <a:latin typeface="Poppins" panose="00000500000000000000" pitchFamily="2" charset="0"/>
                <a:cs typeface="Poppins" panose="00000500000000000000" pitchFamily="2" charset="0"/>
              </a:rPr>
              <a:t>mengolah</a:t>
            </a:r>
            <a:r>
              <a:rPr lang="en-ID" dirty="0"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ID" dirty="0" err="1">
                <a:latin typeface="Poppins" panose="00000500000000000000" pitchFamily="2" charset="0"/>
                <a:cs typeface="Poppins" panose="00000500000000000000" pitchFamily="2" charset="0"/>
              </a:rPr>
              <a:t>menganalisis</a:t>
            </a:r>
            <a:r>
              <a:rPr lang="en-ID" dirty="0">
                <a:latin typeface="Poppins" panose="00000500000000000000" pitchFamily="2" charset="0"/>
                <a:cs typeface="Poppins" panose="00000500000000000000" pitchFamily="2" charset="0"/>
              </a:rPr>
              <a:t> data </a:t>
            </a:r>
            <a:r>
              <a:rPr lang="en-ID" dirty="0" err="1">
                <a:latin typeface="Poppins" panose="00000500000000000000" pitchFamily="2" charset="0"/>
                <a:cs typeface="Poppins" panose="00000500000000000000" pitchFamily="2" charset="0"/>
              </a:rPr>
              <a:t>menggunakan</a:t>
            </a:r>
            <a:r>
              <a:rPr lang="en-ID" dirty="0">
                <a:latin typeface="Poppins" panose="00000500000000000000" pitchFamily="2" charset="0"/>
                <a:cs typeface="Poppins" panose="00000500000000000000" pitchFamily="2" charset="0"/>
              </a:rPr>
              <a:t> Microsoft Excel.</a:t>
            </a:r>
            <a:endParaRPr lang="en-ID" dirty="0">
              <a:solidFill>
                <a:schemeClr val="dk1"/>
              </a:solidFill>
              <a:latin typeface="Poppins" panose="00000500000000000000" pitchFamily="2" charset="0"/>
              <a:cs typeface="Poppins" panose="00000500000000000000" pitchFamily="2" charset="0"/>
              <a:sym typeface="Poppins"/>
            </a:endParaRPr>
          </a:p>
          <a:p>
            <a:pPr marL="444500" lvl="0" indent="-342900" algn="just">
              <a:buClr>
                <a:schemeClr val="dk1"/>
              </a:buClr>
              <a:buSzPts val="2000"/>
              <a:buAutoNum type="arabicPeriod"/>
            </a:pPr>
            <a:r>
              <a:rPr lang="en-ID" dirty="0" err="1">
                <a:latin typeface="Poppins" panose="00000500000000000000" pitchFamily="2" charset="0"/>
                <a:cs typeface="Poppins" panose="00000500000000000000" pitchFamily="2" charset="0"/>
              </a:rPr>
              <a:t>Menguasai</a:t>
            </a:r>
            <a:r>
              <a:rPr lang="en-ID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dirty="0" err="1">
                <a:latin typeface="Poppins" panose="00000500000000000000" pitchFamily="2" charset="0"/>
                <a:cs typeface="Poppins" panose="00000500000000000000" pitchFamily="2" charset="0"/>
              </a:rPr>
              <a:t>berbagai</a:t>
            </a:r>
            <a:r>
              <a:rPr lang="en-ID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dirty="0" err="1">
                <a:latin typeface="Poppins" panose="00000500000000000000" pitchFamily="2" charset="0"/>
                <a:cs typeface="Poppins" panose="00000500000000000000" pitchFamily="2" charset="0"/>
              </a:rPr>
              <a:t>fitur</a:t>
            </a:r>
            <a:r>
              <a:rPr lang="en-ID" dirty="0">
                <a:latin typeface="Poppins" panose="00000500000000000000" pitchFamily="2" charset="0"/>
                <a:cs typeface="Poppins" panose="00000500000000000000" pitchFamily="2" charset="0"/>
              </a:rPr>
              <a:t> Excel </a:t>
            </a:r>
            <a:r>
              <a:rPr lang="en-ID" dirty="0" err="1"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ID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dirty="0" err="1">
                <a:latin typeface="Poppins" panose="00000500000000000000" pitchFamily="2" charset="0"/>
                <a:cs typeface="Poppins" panose="00000500000000000000" pitchFamily="2" charset="0"/>
              </a:rPr>
              <a:t>meningkatkan</a:t>
            </a:r>
            <a:r>
              <a:rPr lang="en-ID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dirty="0" err="1">
                <a:latin typeface="Poppins" panose="00000500000000000000" pitchFamily="2" charset="0"/>
                <a:cs typeface="Poppins" panose="00000500000000000000" pitchFamily="2" charset="0"/>
              </a:rPr>
              <a:t>efisiensi</a:t>
            </a:r>
            <a:r>
              <a:rPr lang="en-ID" dirty="0"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ID" dirty="0" err="1">
                <a:latin typeface="Poppins" panose="00000500000000000000" pitchFamily="2" charset="0"/>
                <a:cs typeface="Poppins" panose="00000500000000000000" pitchFamily="2" charset="0"/>
              </a:rPr>
              <a:t>produktivitas</a:t>
            </a:r>
            <a:r>
              <a:rPr lang="en-ID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dirty="0" err="1">
                <a:latin typeface="Poppins" panose="00000500000000000000" pitchFamily="2" charset="0"/>
                <a:cs typeface="Poppins" panose="00000500000000000000" pitchFamily="2" charset="0"/>
              </a:rPr>
              <a:t>kerja</a:t>
            </a:r>
            <a:r>
              <a:rPr lang="en-ID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  <a:endParaRPr sz="1800" dirty="0">
              <a:solidFill>
                <a:schemeClr val="dk1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5648225" y="4741425"/>
            <a:ext cx="3516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CBDDAF-A373-5A67-A37C-A75B2F759D4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" t="19872" r="1" b="4574"/>
          <a:stretch>
            <a:fillRect/>
          </a:stretch>
        </p:blipFill>
        <p:spPr>
          <a:xfrm>
            <a:off x="563359" y="731375"/>
            <a:ext cx="2718706" cy="27388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1" name="Google Shape;81;p16" title="BT EXCEL - Batch 8 (10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1892300" y="652300"/>
            <a:ext cx="5680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Skill Yang Dikuasai</a:t>
            </a:r>
            <a:endParaRPr sz="40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1227725" y="1518525"/>
            <a:ext cx="3656700" cy="298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AutoNum type="arabicPeriod"/>
            </a:pPr>
            <a:r>
              <a:rPr lang="id" b="1" dirty="0">
                <a:latin typeface="Poppins"/>
                <a:ea typeface="Poppins"/>
                <a:cs typeface="Poppins"/>
                <a:sym typeface="Poppins"/>
              </a:rPr>
              <a:t>Shortcut Ms. Excel</a:t>
            </a:r>
            <a:endParaRPr b="1" dirty="0"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AutoNum type="arabicPeriod"/>
            </a:pPr>
            <a:r>
              <a:rPr lang="id" b="1" dirty="0">
                <a:latin typeface="Poppins"/>
                <a:ea typeface="Poppins"/>
                <a:cs typeface="Poppins"/>
                <a:sym typeface="Poppins"/>
              </a:rPr>
              <a:t>Worksheet &amp; Workbook</a:t>
            </a:r>
            <a:endParaRPr b="1" dirty="0"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AutoNum type="arabicPeriod"/>
            </a:pPr>
            <a:r>
              <a:rPr lang="id" b="1" dirty="0">
                <a:latin typeface="Poppins"/>
                <a:ea typeface="Poppins"/>
                <a:cs typeface="Poppins"/>
                <a:sym typeface="Poppins"/>
              </a:rPr>
              <a:t>SUM</a:t>
            </a:r>
            <a:endParaRPr b="1" dirty="0"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AutoNum type="arabicPeriod"/>
            </a:pPr>
            <a:r>
              <a:rPr lang="id" b="1" dirty="0">
                <a:latin typeface="Poppins"/>
                <a:ea typeface="Poppins"/>
                <a:cs typeface="Poppins"/>
                <a:sym typeface="Poppins"/>
              </a:rPr>
              <a:t>AVERAGE</a:t>
            </a:r>
            <a:endParaRPr lang="en-US" b="1" dirty="0"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AutoNum type="arabicPeriod"/>
            </a:pPr>
            <a:r>
              <a:rPr lang="en-US" b="1" dirty="0">
                <a:latin typeface="Poppins"/>
                <a:ea typeface="Poppins"/>
                <a:cs typeface="Poppins"/>
                <a:sym typeface="Poppins"/>
              </a:rPr>
              <a:t>COUNT</a:t>
            </a:r>
            <a:endParaRPr b="1" dirty="0"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AutoNum type="arabicPeriod"/>
            </a:pPr>
            <a:r>
              <a:rPr lang="id" b="1" dirty="0">
                <a:latin typeface="Poppins"/>
                <a:ea typeface="Poppins"/>
                <a:cs typeface="Poppins"/>
                <a:sym typeface="Poppins"/>
              </a:rPr>
              <a:t>IF</a:t>
            </a:r>
            <a:endParaRPr b="1" dirty="0"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AutoNum type="arabicPeriod"/>
            </a:pPr>
            <a:r>
              <a:rPr lang="id" b="1" dirty="0">
                <a:latin typeface="Poppins"/>
                <a:ea typeface="Poppins"/>
                <a:cs typeface="Poppins"/>
                <a:sym typeface="Poppins"/>
              </a:rPr>
              <a:t>VLOOKUP</a:t>
            </a:r>
            <a:endParaRPr lang="en-US" b="1" dirty="0"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AutoNum type="arabicPeriod"/>
            </a:pPr>
            <a:r>
              <a:rPr lang="en-US" b="1" dirty="0">
                <a:latin typeface="Poppins"/>
                <a:ea typeface="Poppins"/>
                <a:cs typeface="Poppins"/>
                <a:sym typeface="Poppins"/>
              </a:rPr>
              <a:t>HLOOKUP</a:t>
            </a:r>
            <a:endParaRPr b="1" dirty="0"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AutoNum type="arabicPeriod"/>
            </a:pPr>
            <a:r>
              <a:rPr lang="id" b="1" dirty="0">
                <a:latin typeface="Poppins"/>
                <a:ea typeface="Poppins"/>
                <a:cs typeface="Poppins"/>
                <a:sym typeface="Poppins"/>
              </a:rPr>
              <a:t>INDEX MATCH</a:t>
            </a:r>
            <a:endParaRPr b="1" dirty="0"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AutoNum type="arabicPeriod"/>
            </a:pPr>
            <a:r>
              <a:rPr lang="id" b="1" dirty="0">
                <a:latin typeface="Poppins"/>
                <a:ea typeface="Poppins"/>
                <a:cs typeface="Poppins"/>
                <a:sym typeface="Poppins"/>
              </a:rPr>
              <a:t>Kalkulasi Presentase</a:t>
            </a:r>
            <a:endParaRPr lang="en-US" b="1" dirty="0"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AutoNum type="arabicPeriod"/>
            </a:pPr>
            <a:r>
              <a:rPr lang="en-US" b="1" dirty="0">
                <a:latin typeface="Poppins"/>
                <a:ea typeface="Poppins"/>
                <a:cs typeface="Poppins"/>
                <a:sym typeface="Poppins"/>
              </a:rPr>
              <a:t>DATE FUNCTION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AutoNum type="arabicPeriod"/>
            </a:pPr>
            <a:r>
              <a:rPr lang="en-US" b="1" dirty="0">
                <a:latin typeface="Poppins"/>
                <a:ea typeface="Poppins"/>
                <a:cs typeface="Poppins"/>
                <a:sym typeface="Poppins"/>
              </a:rPr>
              <a:t>PIVOT TABLE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AutoNum type="arabicPeriod"/>
            </a:pPr>
            <a:r>
              <a:rPr lang="en-US" b="1" dirty="0">
                <a:latin typeface="Poppins"/>
                <a:ea typeface="Poppins"/>
                <a:cs typeface="Poppins"/>
                <a:sym typeface="Poppins"/>
              </a:rPr>
              <a:t>TEXT</a:t>
            </a:r>
            <a:endParaRPr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5287925" y="1518525"/>
            <a:ext cx="30000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13. DATE FUNCTION</a:t>
            </a:r>
            <a:endParaRPr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14. PIVOT TABLE</a:t>
            </a:r>
            <a:endParaRPr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15. </a:t>
            </a:r>
            <a:r>
              <a:rPr lang="en-US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Visualisasi</a:t>
            </a:r>
            <a:r>
              <a:rPr lang="en-US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Data</a:t>
            </a:r>
            <a:endParaRPr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16. TEXT</a:t>
            </a:r>
            <a:endParaRPr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17. COUNTIFS</a:t>
            </a:r>
            <a:endParaRPr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18. AVERAGEIFS</a:t>
            </a:r>
            <a:endParaRPr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19. SUMIFS</a:t>
            </a:r>
            <a:endParaRPr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20. PIVOT CHART</a:t>
            </a:r>
            <a:endParaRPr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21. SLICER</a:t>
            </a:r>
            <a:endParaRPr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22. DATA VALIDATION</a:t>
            </a:r>
            <a:endParaRPr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23. MACRO VBA</a:t>
            </a:r>
            <a:endParaRPr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24. DASHBOARD</a:t>
            </a:r>
            <a:endParaRPr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/>
        </p:nvSpPr>
        <p:spPr>
          <a:xfrm>
            <a:off x="1347350" y="588125"/>
            <a:ext cx="6535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Ringkasan Bootcamp</a:t>
            </a:r>
            <a:endParaRPr sz="40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1670850" y="1702925"/>
            <a:ext cx="6009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id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Penyelenggara                : Karirnex 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id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Tanggal                             : 2 - 15 Juni 2026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id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Total Jam Belajar            : 10 Jam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id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Total Jam Mini Project    : 5 Jam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id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Hasil Utama                      : Sertifikat Berpredikat, Mini Project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8" title="BT EXCEL - Batch 8 (1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 txBox="1"/>
          <p:nvPr/>
        </p:nvSpPr>
        <p:spPr>
          <a:xfrm>
            <a:off x="3432263" y="487675"/>
            <a:ext cx="2042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2100" b="1" dirty="0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rPr>
              <a:t>DUMMY DATA</a:t>
            </a:r>
            <a:r>
              <a:rPr lang="id" sz="3000" b="1" dirty="0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000" b="1" dirty="0">
              <a:solidFill>
                <a:schemeClr val="accent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CB5132-06BC-47DC-227D-656CDE12FB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895" y="1061357"/>
            <a:ext cx="8760210" cy="36820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/>
        </p:nvSpPr>
        <p:spPr>
          <a:xfrm>
            <a:off x="3015525" y="537375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Task 1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EA3337-2508-6F91-17C5-B93E7FB51C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3334" y="1134836"/>
            <a:ext cx="6417332" cy="36086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/>
        </p:nvSpPr>
        <p:spPr>
          <a:xfrm>
            <a:off x="3831225" y="609525"/>
            <a:ext cx="2918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3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RESULT</a:t>
            </a:r>
            <a:endParaRPr sz="30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CC7CBCD-10BC-85B9-5D1A-C508B91F14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5" t="4119" r="4089"/>
          <a:stretch>
            <a:fillRect/>
          </a:stretch>
        </p:blipFill>
        <p:spPr>
          <a:xfrm>
            <a:off x="821599" y="1340303"/>
            <a:ext cx="1812471" cy="14567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7CE017-D6AD-9142-5AA8-3871E0ECA5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148" y="1340303"/>
            <a:ext cx="2254896" cy="9865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84FBED-0EEA-C200-6A61-5B318FB3D2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194" y="1340303"/>
            <a:ext cx="2419350" cy="113030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6D61626-C39E-B64F-0D5B-5CD80BE006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374971"/>
              </p:ext>
            </p:extLst>
          </p:nvPr>
        </p:nvGraphicFramePr>
        <p:xfrm>
          <a:off x="602251" y="3162375"/>
          <a:ext cx="7943850" cy="143738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47950">
                  <a:extLst>
                    <a:ext uri="{9D8B030D-6E8A-4147-A177-3AD203B41FA5}">
                      <a16:colId xmlns:a16="http://schemas.microsoft.com/office/drawing/2014/main" val="558408431"/>
                    </a:ext>
                  </a:extLst>
                </a:gridCol>
                <a:gridCol w="2647950">
                  <a:extLst>
                    <a:ext uri="{9D8B030D-6E8A-4147-A177-3AD203B41FA5}">
                      <a16:colId xmlns:a16="http://schemas.microsoft.com/office/drawing/2014/main" val="3746484297"/>
                    </a:ext>
                  </a:extLst>
                </a:gridCol>
                <a:gridCol w="2647950">
                  <a:extLst>
                    <a:ext uri="{9D8B030D-6E8A-4147-A177-3AD203B41FA5}">
                      <a16:colId xmlns:a16="http://schemas.microsoft.com/office/drawing/2014/main" val="2347486563"/>
                    </a:ext>
                  </a:extLst>
                </a:gridCol>
              </a:tblGrid>
              <a:tr h="340104">
                <a:tc gridSpan="3">
                  <a:txBody>
                    <a:bodyPr/>
                    <a:lstStyle/>
                    <a:p>
                      <a:pPr lvl="0" algn="ctr"/>
                      <a:r>
                        <a:rPr lang="en-US" sz="1100" b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Pembahasan</a:t>
                      </a:r>
                      <a:endParaRPr lang="en-ID" sz="1100" b="1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ID" sz="1100" b="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ID" sz="1100" b="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197572"/>
                  </a:ext>
                </a:extLst>
              </a:tr>
              <a:tr h="10109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1.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Ukuran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</a:t>
                      </a:r>
                      <a:r>
                        <a:rPr lang="en-ID" sz="1100" b="1" i="0" u="none" strike="noStrike" cap="non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L</a:t>
                      </a:r>
                      <a:r>
                        <a:rPr lang="en-ID" sz="1100" b="0" i="0" u="none" strike="noStrike" cap="non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yang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memiliki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jumlah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terjual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paling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banyak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D" sz="1100" b="0" i="0" u="none" strike="noStrike" cap="none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  <a:sym typeface="Arial"/>
                      </a:endParaRPr>
                    </a:p>
                    <a:p>
                      <a:pPr lvl="0" algn="l"/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Menggunakan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rumus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</a:t>
                      </a:r>
                      <a:r>
                        <a:rPr lang="en-ID" sz="1100" b="0" i="0" u="none" strike="noStrike" cap="non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SUMIFS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untuk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menghitung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jumlah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data yang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memenuhi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syarat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tertentu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.</a:t>
                      </a:r>
                      <a:endParaRPr lang="en-ID" sz="1100" b="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2. Rata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rata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quantity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yg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terjual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adalah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</a:t>
                      </a:r>
                      <a:r>
                        <a:rPr lang="en-ID" sz="1100" b="1" i="0" u="none" strike="noStrike" cap="non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2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.</a:t>
                      </a:r>
                    </a:p>
                    <a:p>
                      <a:pPr algn="l"/>
                      <a:endParaRPr lang="en-ID" sz="1100" b="0" i="0" u="none" strike="noStrike" cap="none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  <a:sym typeface="Arial"/>
                      </a:endParaRPr>
                    </a:p>
                    <a:p>
                      <a:pPr algn="l"/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Menggunakan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rumus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</a:t>
                      </a:r>
                      <a:r>
                        <a:rPr lang="en-ID" sz="1100" b="0" i="0" u="none" strike="noStrike" cap="non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AVERAGEIFS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untuk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menghasilkan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rata-rata quantity yang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terjual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.</a:t>
                      </a:r>
                      <a:endParaRPr lang="en-ID" sz="1100" b="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3. T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otal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diskon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yang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didapat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</a:t>
                      </a:r>
                      <a:r>
                        <a:rPr lang="en-ID" sz="1100" b="1" i="0" u="none" strike="noStrike" cap="non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410.500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D" sz="1100" b="0" i="0" u="none" strike="noStrike" cap="none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  <a:sym typeface="Arial"/>
                      </a:endParaRPr>
                    </a:p>
                    <a:p>
                      <a:pPr algn="l"/>
                      <a:r>
                        <a:rPr lang="en-ID" sz="1100" b="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Menggunakan</a:t>
                      </a:r>
                      <a:r>
                        <a:rPr lang="en-ID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100" b="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rumus</a:t>
                      </a:r>
                      <a:r>
                        <a:rPr lang="en-ID" sz="110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SUMIFS </a:t>
                      </a:r>
                      <a:r>
                        <a:rPr lang="en-ID" sz="1100" b="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untuk</a:t>
                      </a:r>
                      <a:r>
                        <a:rPr lang="en-ID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100" b="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menjumlahkan</a:t>
                      </a:r>
                      <a:r>
                        <a:rPr lang="en-ID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data </a:t>
                      </a:r>
                      <a:r>
                        <a:rPr lang="en-ID" sz="1100" b="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dengan</a:t>
                      </a:r>
                      <a:r>
                        <a:rPr lang="en-ID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100" b="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beberapa</a:t>
                      </a:r>
                      <a:r>
                        <a:rPr lang="en-ID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100" b="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syarat</a:t>
                      </a:r>
                      <a:r>
                        <a:rPr lang="en-ID" sz="11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778921"/>
                  </a:ext>
                </a:extLst>
              </a:tr>
            </a:tbl>
          </a:graphicData>
        </a:graphic>
      </p:graphicFrame>
      <p:sp>
        <p:nvSpPr>
          <p:cNvPr id="6" name="Google Shape;112;p21">
            <a:extLst>
              <a:ext uri="{FF2B5EF4-FFF2-40B4-BE49-F238E27FC236}">
                <a16:creationId xmlns:a16="http://schemas.microsoft.com/office/drawing/2014/main" id="{1674CC52-C80F-0F63-52B4-8DFAF96663F4}"/>
              </a:ext>
            </a:extLst>
          </p:cNvPr>
          <p:cNvSpPr txBox="1"/>
          <p:nvPr/>
        </p:nvSpPr>
        <p:spPr>
          <a:xfrm>
            <a:off x="382903" y="1246586"/>
            <a:ext cx="438696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16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Google Shape;112;p21">
            <a:extLst>
              <a:ext uri="{FF2B5EF4-FFF2-40B4-BE49-F238E27FC236}">
                <a16:creationId xmlns:a16="http://schemas.microsoft.com/office/drawing/2014/main" id="{39096C42-938A-B35B-B3BC-26A7F015B11C}"/>
              </a:ext>
            </a:extLst>
          </p:cNvPr>
          <p:cNvSpPr txBox="1"/>
          <p:nvPr/>
        </p:nvSpPr>
        <p:spPr>
          <a:xfrm>
            <a:off x="3011452" y="1271077"/>
            <a:ext cx="438696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16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Google Shape;112;p21">
            <a:extLst>
              <a:ext uri="{FF2B5EF4-FFF2-40B4-BE49-F238E27FC236}">
                <a16:creationId xmlns:a16="http://schemas.microsoft.com/office/drawing/2014/main" id="{24A3DD93-89EC-2192-1F51-A21C941B52C3}"/>
              </a:ext>
            </a:extLst>
          </p:cNvPr>
          <p:cNvSpPr txBox="1"/>
          <p:nvPr/>
        </p:nvSpPr>
        <p:spPr>
          <a:xfrm>
            <a:off x="5869498" y="1271077"/>
            <a:ext cx="438696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16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/>
        </p:nvSpPr>
        <p:spPr>
          <a:xfrm>
            <a:off x="3831225" y="609525"/>
            <a:ext cx="2918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RESULT</a:t>
            </a:r>
            <a:endParaRPr sz="30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112;p21">
            <a:extLst>
              <a:ext uri="{FF2B5EF4-FFF2-40B4-BE49-F238E27FC236}">
                <a16:creationId xmlns:a16="http://schemas.microsoft.com/office/drawing/2014/main" id="{7A4576CF-7538-72F2-3ADB-8349DB103635}"/>
              </a:ext>
            </a:extLst>
          </p:cNvPr>
          <p:cNvSpPr txBox="1"/>
          <p:nvPr/>
        </p:nvSpPr>
        <p:spPr>
          <a:xfrm>
            <a:off x="3831225" y="609525"/>
            <a:ext cx="2918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3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RESULT</a:t>
            </a:r>
            <a:endParaRPr sz="30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AAC7924-898F-0CE9-9BC5-F820405AD1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869534"/>
              </p:ext>
            </p:extLst>
          </p:nvPr>
        </p:nvGraphicFramePr>
        <p:xfrm>
          <a:off x="602251" y="3162374"/>
          <a:ext cx="7943850" cy="15150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47950">
                  <a:extLst>
                    <a:ext uri="{9D8B030D-6E8A-4147-A177-3AD203B41FA5}">
                      <a16:colId xmlns:a16="http://schemas.microsoft.com/office/drawing/2014/main" val="558408431"/>
                    </a:ext>
                  </a:extLst>
                </a:gridCol>
                <a:gridCol w="2647950">
                  <a:extLst>
                    <a:ext uri="{9D8B030D-6E8A-4147-A177-3AD203B41FA5}">
                      <a16:colId xmlns:a16="http://schemas.microsoft.com/office/drawing/2014/main" val="3746484297"/>
                    </a:ext>
                  </a:extLst>
                </a:gridCol>
                <a:gridCol w="2647950">
                  <a:extLst>
                    <a:ext uri="{9D8B030D-6E8A-4147-A177-3AD203B41FA5}">
                      <a16:colId xmlns:a16="http://schemas.microsoft.com/office/drawing/2014/main" val="2347486563"/>
                    </a:ext>
                  </a:extLst>
                </a:gridCol>
              </a:tblGrid>
              <a:tr h="348269">
                <a:tc gridSpan="3">
                  <a:txBody>
                    <a:bodyPr/>
                    <a:lstStyle/>
                    <a:p>
                      <a:pPr lvl="0" algn="ctr"/>
                      <a:r>
                        <a:rPr lang="en-US" sz="1100" b="1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Pembahasan</a:t>
                      </a:r>
                      <a:endParaRPr lang="en-ID" sz="1100" b="1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1100" b="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1100" b="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491998"/>
                  </a:ext>
                </a:extLst>
              </a:tr>
              <a:tr h="1166791">
                <a:tc>
                  <a:txBody>
                    <a:bodyPr/>
                    <a:lstStyle/>
                    <a:p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Total customer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unik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= </a:t>
                      </a:r>
                      <a:r>
                        <a:rPr lang="en-ID" sz="1100" b="1" i="0" u="none" strike="noStrike" cap="non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395</a:t>
                      </a:r>
                      <a:endParaRPr lang="en-ID" sz="1100" b="0" i="0" u="none" strike="noStrike" cap="none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Total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keseluruhan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customer = </a:t>
                      </a:r>
                      <a:r>
                        <a:rPr lang="en-ID" sz="1100" b="1" i="0" u="none" strike="noStrike" cap="non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14605</a:t>
                      </a:r>
                    </a:p>
                    <a:p>
                      <a:endParaRPr lang="en-ID" sz="1100" b="0" i="0" u="none" strike="noStrike" cap="none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  <a:sym typeface="Arial"/>
                      </a:endParaRPr>
                    </a:p>
                    <a:p>
                      <a:pPr lvl="0" algn="l"/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Menggunakan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rumus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</a:t>
                      </a:r>
                      <a:r>
                        <a:rPr lang="en-ID" sz="1100" b="0" i="0" u="none" strike="noStrike" cap="non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=COUNTA(UNIQUE)) 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untuk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menghitung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nilai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yang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unik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.</a:t>
                      </a:r>
                      <a:endParaRPr lang="en-ID" sz="1100" b="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Kaos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Pendek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merupakan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barang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yang paling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laku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secara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qty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dengan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jumlah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quantity </a:t>
                      </a:r>
                      <a:r>
                        <a:rPr lang="en-ID" sz="1100" b="1" i="0" u="none" strike="noStrike" cap="non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1308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.</a:t>
                      </a:r>
                    </a:p>
                    <a:p>
                      <a:endParaRPr lang="en-ID" sz="1100" b="0" i="0" u="none" strike="noStrike" cap="none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  <a:sym typeface="Arial"/>
                      </a:endParaRPr>
                    </a:p>
                    <a:p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Menggunakan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rumus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:</a:t>
                      </a:r>
                    </a:p>
                    <a:p>
                      <a:r>
                        <a:rPr lang="en-ID" sz="1100" b="0" i="0" u="none" strike="noStrike" cap="non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=SUMIFS</a:t>
                      </a:r>
                      <a:endParaRPr lang="en-ID" sz="1100" b="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100" b="1" i="0" u="none" strike="noStrike" cap="none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FashionHub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merupakan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platform yang paling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sepi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dengan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total sales Rp. 412.051.300.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D" sz="1100" b="0" i="0" u="none" strike="noStrike" cap="none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  <a:sym typeface="Arial"/>
                      </a:endParaRPr>
                    </a:p>
                    <a:p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Menggunakan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rumus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:</a:t>
                      </a:r>
                    </a:p>
                    <a:p>
                      <a:r>
                        <a:rPr lang="en-ID" sz="1100" b="0" i="0" u="none" strike="noStrike" cap="non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=SUMIFS</a:t>
                      </a:r>
                      <a:endParaRPr lang="en-ID" sz="1100" b="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778921"/>
                  </a:ext>
                </a:extLst>
              </a:tr>
            </a:tbl>
          </a:graphicData>
        </a:graphic>
      </p:graphicFrame>
      <p:sp>
        <p:nvSpPr>
          <p:cNvPr id="7" name="Google Shape;112;p21">
            <a:extLst>
              <a:ext uri="{FF2B5EF4-FFF2-40B4-BE49-F238E27FC236}">
                <a16:creationId xmlns:a16="http://schemas.microsoft.com/office/drawing/2014/main" id="{BCA808EF-C74B-879A-806D-9F7A1B24B697}"/>
              </a:ext>
            </a:extLst>
          </p:cNvPr>
          <p:cNvSpPr txBox="1"/>
          <p:nvPr/>
        </p:nvSpPr>
        <p:spPr>
          <a:xfrm>
            <a:off x="321733" y="1246586"/>
            <a:ext cx="499866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sz="16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Google Shape;112;p21">
            <a:extLst>
              <a:ext uri="{FF2B5EF4-FFF2-40B4-BE49-F238E27FC236}">
                <a16:creationId xmlns:a16="http://schemas.microsoft.com/office/drawing/2014/main" id="{D0AF30D0-B6BA-2436-A686-EF0D463E5D43}"/>
              </a:ext>
            </a:extLst>
          </p:cNvPr>
          <p:cNvSpPr txBox="1"/>
          <p:nvPr/>
        </p:nvSpPr>
        <p:spPr>
          <a:xfrm>
            <a:off x="3545669" y="1250351"/>
            <a:ext cx="599369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5a.</a:t>
            </a:r>
            <a:endParaRPr sz="16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C8CD47B-DBFA-2838-191A-B7AFA3568C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599" y="1349831"/>
            <a:ext cx="2203975" cy="1163167"/>
          </a:xfrm>
          <a:prstGeom prst="rect">
            <a:avLst/>
          </a:prstGeom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39A772B1-208B-E9AD-9C26-6AEC7C539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0148" y="-542469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=COUNTA(UNIQUE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49" name="Picture 1">
            <a:extLst>
              <a:ext uri="{FF2B5EF4-FFF2-40B4-BE49-F238E27FC236}">
                <a16:creationId xmlns:a16="http://schemas.microsoft.com/office/drawing/2014/main" id="{BDDBFC5E-5C46-8369-D814-3C9A7E519A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152"/>
          <a:stretch>
            <a:fillRect/>
          </a:stretch>
        </p:blipFill>
        <p:spPr bwMode="auto">
          <a:xfrm>
            <a:off x="4009572" y="1350577"/>
            <a:ext cx="1354034" cy="1578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10A01A-9B4E-DAF7-72E3-3035A2BD2A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7604" y="1341498"/>
            <a:ext cx="2102129" cy="1625030"/>
          </a:xfrm>
          <a:prstGeom prst="rect">
            <a:avLst/>
          </a:prstGeom>
        </p:spPr>
      </p:pic>
      <p:sp>
        <p:nvSpPr>
          <p:cNvPr id="13" name="Google Shape;112;p21">
            <a:extLst>
              <a:ext uri="{FF2B5EF4-FFF2-40B4-BE49-F238E27FC236}">
                <a16:creationId xmlns:a16="http://schemas.microsoft.com/office/drawing/2014/main" id="{1A568E18-F7A1-586A-6274-6F845C24D05C}"/>
              </a:ext>
            </a:extLst>
          </p:cNvPr>
          <p:cNvSpPr txBox="1"/>
          <p:nvPr/>
        </p:nvSpPr>
        <p:spPr>
          <a:xfrm>
            <a:off x="5908907" y="1246585"/>
            <a:ext cx="534225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5b.</a:t>
            </a:r>
            <a:endParaRPr sz="16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1">
          <a:extLst>
            <a:ext uri="{FF2B5EF4-FFF2-40B4-BE49-F238E27FC236}">
              <a16:creationId xmlns:a16="http://schemas.microsoft.com/office/drawing/2014/main" id="{5A300B24-F3D2-9DE9-EB3B-7F84F305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>
            <a:extLst>
              <a:ext uri="{FF2B5EF4-FFF2-40B4-BE49-F238E27FC236}">
                <a16:creationId xmlns:a16="http://schemas.microsoft.com/office/drawing/2014/main" id="{D0D14136-97D6-AC6B-585C-1F5CE85EB7D7}"/>
              </a:ext>
            </a:extLst>
          </p:cNvPr>
          <p:cNvSpPr txBox="1"/>
          <p:nvPr/>
        </p:nvSpPr>
        <p:spPr>
          <a:xfrm>
            <a:off x="3831225" y="609525"/>
            <a:ext cx="2918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RESULT</a:t>
            </a:r>
            <a:endParaRPr sz="30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112;p21">
            <a:extLst>
              <a:ext uri="{FF2B5EF4-FFF2-40B4-BE49-F238E27FC236}">
                <a16:creationId xmlns:a16="http://schemas.microsoft.com/office/drawing/2014/main" id="{9398824E-5387-1294-A3B2-09BE4B2B39C1}"/>
              </a:ext>
            </a:extLst>
          </p:cNvPr>
          <p:cNvSpPr txBox="1"/>
          <p:nvPr/>
        </p:nvSpPr>
        <p:spPr>
          <a:xfrm>
            <a:off x="3831225" y="609525"/>
            <a:ext cx="2918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3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RESULT</a:t>
            </a:r>
            <a:endParaRPr sz="30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883EDBE-E9F9-8CEE-C01A-BEFAE5EFF4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446518"/>
              </p:ext>
            </p:extLst>
          </p:nvPr>
        </p:nvGraphicFramePr>
        <p:xfrm>
          <a:off x="778934" y="2871045"/>
          <a:ext cx="7586132" cy="2026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93066">
                  <a:extLst>
                    <a:ext uri="{9D8B030D-6E8A-4147-A177-3AD203B41FA5}">
                      <a16:colId xmlns:a16="http://schemas.microsoft.com/office/drawing/2014/main" val="3746484297"/>
                    </a:ext>
                  </a:extLst>
                </a:gridCol>
                <a:gridCol w="3793066">
                  <a:extLst>
                    <a:ext uri="{9D8B030D-6E8A-4147-A177-3AD203B41FA5}">
                      <a16:colId xmlns:a16="http://schemas.microsoft.com/office/drawing/2014/main" val="234748656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100" b="1" dirty="0" err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Pembahasan</a:t>
                      </a:r>
                      <a:endParaRPr lang="en-ID" sz="1100" b="1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1100" b="0" i="0" u="none" strike="noStrike" cap="none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119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Tidak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ada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customer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dengan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rating yang paling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tinggi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karna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semuanya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setara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yaitu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rata-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ratanya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</a:t>
                      </a:r>
                      <a:r>
                        <a:rPr lang="en-ID" sz="1100" b="1" i="0" u="none" strike="noStrike" cap="non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3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disetiap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material.</a:t>
                      </a:r>
                    </a:p>
                    <a:p>
                      <a:endParaRPr lang="en-ID" sz="1100" b="0" i="0" u="none" strike="noStrike" cap="none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  <a:sym typeface="Arial"/>
                      </a:endParaRPr>
                    </a:p>
                    <a:p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Menggunakan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Rumus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:</a:t>
                      </a:r>
                    </a:p>
                    <a:p>
                      <a:r>
                        <a:rPr lang="en-ID" sz="1100" b="0" i="0" u="none" strike="noStrike" cap="non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=SUMIFS</a:t>
                      </a:r>
                      <a:endParaRPr lang="en-ID" sz="1100" b="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Rasio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Qty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terjual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: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tidak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terjual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= </a:t>
                      </a:r>
                      <a:r>
                        <a:rPr lang="en-ID" sz="1100" b="1" i="0" u="none" strike="noStrike" cap="non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68,75% : 31,25%.</a:t>
                      </a:r>
                    </a:p>
                    <a:p>
                      <a:endParaRPr lang="en-ID" sz="1100" b="1" i="0" u="none" strike="noStrike" cap="none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  <a:sym typeface="Arial"/>
                      </a:endParaRPr>
                    </a:p>
                    <a:p>
                      <a:pPr lvl="0"/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Hitung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persentase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Qty Completed dan Qty Tidak Completed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dengan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rumus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:</a:t>
                      </a:r>
                    </a:p>
                    <a:p>
                      <a:pPr lvl="0"/>
                      <a:endParaRPr lang="en-ID" sz="1100" b="0" i="0" u="none" strike="noStrike" cap="none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  <a:sym typeface="Arial"/>
                      </a:endParaRPr>
                    </a:p>
                    <a:p>
                      <a:pPr lvl="0"/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Persentase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Qty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Terjual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:</a:t>
                      </a:r>
                    </a:p>
                    <a:p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(Qty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Terjual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/ Total Qty) × 100%</a:t>
                      </a:r>
                    </a:p>
                    <a:p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 </a:t>
                      </a:r>
                    </a:p>
                    <a:p>
                      <a:pPr lvl="0"/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Persentase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Qty Tidak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Terjual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:</a:t>
                      </a:r>
                    </a:p>
                    <a:p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(Qty Tidak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Terjual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/ Total Qty) × 100%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778921"/>
                  </a:ext>
                </a:extLst>
              </a:tr>
            </a:tbl>
          </a:graphicData>
        </a:graphic>
      </p:graphicFrame>
      <p:sp>
        <p:nvSpPr>
          <p:cNvPr id="8" name="Google Shape;112;p21">
            <a:extLst>
              <a:ext uri="{FF2B5EF4-FFF2-40B4-BE49-F238E27FC236}">
                <a16:creationId xmlns:a16="http://schemas.microsoft.com/office/drawing/2014/main" id="{8015B5ED-59BD-A67D-867D-AD381C6DBE64}"/>
              </a:ext>
            </a:extLst>
          </p:cNvPr>
          <p:cNvSpPr txBox="1"/>
          <p:nvPr/>
        </p:nvSpPr>
        <p:spPr>
          <a:xfrm>
            <a:off x="677330" y="1246584"/>
            <a:ext cx="599369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5c.</a:t>
            </a:r>
            <a:endParaRPr sz="16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506D7395-C85B-489D-70BE-5C6117E39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0148" y="-542469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=COUNTA(UNIQUE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Google Shape;112;p21">
            <a:extLst>
              <a:ext uri="{FF2B5EF4-FFF2-40B4-BE49-F238E27FC236}">
                <a16:creationId xmlns:a16="http://schemas.microsoft.com/office/drawing/2014/main" id="{127B3054-2EB7-E976-E67F-0FF10044A1E2}"/>
              </a:ext>
            </a:extLst>
          </p:cNvPr>
          <p:cNvSpPr txBox="1"/>
          <p:nvPr/>
        </p:nvSpPr>
        <p:spPr>
          <a:xfrm>
            <a:off x="4529665" y="1246583"/>
            <a:ext cx="534225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5d.</a:t>
            </a:r>
            <a:endParaRPr sz="16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524252-6DB1-17EC-0B07-F28B879C1D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58764"/>
          <a:stretch>
            <a:fillRect/>
          </a:stretch>
        </p:blipFill>
        <p:spPr>
          <a:xfrm>
            <a:off x="1290719" y="1333481"/>
            <a:ext cx="1641059" cy="13362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D3822FA-C1AC-CCBA-E2AF-BBB91A51F6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4741" y="1582879"/>
            <a:ext cx="4230325" cy="1156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655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/>
        </p:nvSpPr>
        <p:spPr>
          <a:xfrm>
            <a:off x="3015525" y="537375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Task 2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BD5A6A0-CF5C-12DA-78AB-3FBAC2F1D2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8061" y="1244599"/>
            <a:ext cx="6207878" cy="349022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1">
          <a:extLst>
            <a:ext uri="{FF2B5EF4-FFF2-40B4-BE49-F238E27FC236}">
              <a16:creationId xmlns:a16="http://schemas.microsoft.com/office/drawing/2014/main" id="{48695D25-8C29-4543-A69C-604EF3D13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>
            <a:extLst>
              <a:ext uri="{FF2B5EF4-FFF2-40B4-BE49-F238E27FC236}">
                <a16:creationId xmlns:a16="http://schemas.microsoft.com/office/drawing/2014/main" id="{8F8E0105-E404-1D0F-D4E8-182D3F4C4DEF}"/>
              </a:ext>
            </a:extLst>
          </p:cNvPr>
          <p:cNvSpPr txBox="1"/>
          <p:nvPr/>
        </p:nvSpPr>
        <p:spPr>
          <a:xfrm>
            <a:off x="3831225" y="609525"/>
            <a:ext cx="2918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3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RESULT</a:t>
            </a:r>
            <a:endParaRPr sz="30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E9DAFE-F722-F5DF-17B6-D6749D5E3BCA}"/>
              </a:ext>
            </a:extLst>
          </p:cNvPr>
          <p:cNvSpPr txBox="1"/>
          <p:nvPr/>
        </p:nvSpPr>
        <p:spPr>
          <a:xfrm>
            <a:off x="204106" y="1256025"/>
            <a:ext cx="8262257" cy="1237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algn="just">
              <a:lnSpc>
                <a:spcPct val="150000"/>
              </a:lnSpc>
              <a:spcAft>
                <a:spcPts val="600"/>
              </a:spcAft>
              <a:buNone/>
              <a:tabLst>
                <a:tab pos="540385" algn="l"/>
              </a:tabLst>
            </a:pPr>
            <a:r>
              <a:rPr lang="en-ID" sz="1100" b="1" kern="100" dirty="0" err="1">
                <a:solidFill>
                  <a:schemeClr val="accent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Tahapannya</a:t>
            </a:r>
            <a:r>
              <a:rPr lang="en-ID" sz="11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: </a:t>
            </a:r>
            <a:endParaRPr lang="en-ID" sz="1100" kern="100" dirty="0">
              <a:solidFill>
                <a:schemeClr val="accent1">
                  <a:lumMod val="75000"/>
                </a:schemeClr>
              </a:solidFill>
              <a:effectLst/>
              <a:latin typeface="Poppins" panose="00000500000000000000" pitchFamily="2" charset="0"/>
              <a:ea typeface="Calibri" panose="020F0502020204030204" pitchFamily="34" charset="0"/>
              <a:cs typeface="Poppins" panose="00000500000000000000" pitchFamily="2" charset="0"/>
            </a:endParaRPr>
          </a:p>
          <a:p>
            <a:pPr marL="628650" indent="-17145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en-ID" sz="1100" b="1" kern="100" dirty="0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Buat </a:t>
            </a:r>
            <a:r>
              <a:rPr lang="en-ID" sz="1100" b="1" kern="100" dirty="0" err="1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kategori</a:t>
            </a:r>
            <a:r>
              <a:rPr lang="en-ID" sz="1100" b="1" kern="100" dirty="0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</a:t>
            </a:r>
            <a:r>
              <a:rPr lang="en-ID" sz="1100" b="1" kern="100" dirty="0" err="1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harga</a:t>
            </a:r>
            <a:r>
              <a:rPr lang="en-ID" sz="1100" b="1" kern="100" dirty="0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</a:t>
            </a:r>
            <a:r>
              <a:rPr lang="en-ID" sz="1100" b="1" kern="100" dirty="0" err="1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terlebih</a:t>
            </a:r>
            <a:r>
              <a:rPr lang="en-ID" sz="1100" b="1" kern="100" dirty="0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</a:t>
            </a:r>
            <a:r>
              <a:rPr lang="en-ID" sz="1100" b="1" kern="100" dirty="0" err="1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dahulu</a:t>
            </a:r>
            <a:r>
              <a:rPr lang="en-ID" sz="1100" b="1" kern="100" dirty="0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</a:t>
            </a:r>
            <a:r>
              <a:rPr lang="en-ID" sz="1100" b="1" kern="100" dirty="0" err="1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dengan</a:t>
            </a:r>
            <a:r>
              <a:rPr lang="en-ID" sz="1100" b="1" kern="100" dirty="0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</a:t>
            </a:r>
            <a:r>
              <a:rPr lang="en-ID" sz="1100" b="1" kern="100" dirty="0" err="1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rumus</a:t>
            </a:r>
            <a:r>
              <a:rPr lang="en-ID" sz="1100" b="1" kern="100" dirty="0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</a:t>
            </a:r>
            <a:r>
              <a:rPr lang="en-ID" sz="11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IF</a:t>
            </a:r>
            <a:r>
              <a:rPr lang="en-ID" sz="1100" b="1" kern="100" dirty="0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:</a:t>
            </a:r>
            <a:endParaRPr lang="en-ID" sz="1100" kern="100" dirty="0">
              <a:latin typeface="Poppins" panose="00000500000000000000" pitchFamily="2" charset="0"/>
              <a:ea typeface="Calibri" panose="020F0502020204030204" pitchFamily="34" charset="0"/>
              <a:cs typeface="Poppins" panose="00000500000000000000" pitchFamily="2" charset="0"/>
            </a:endParaRPr>
          </a:p>
          <a:p>
            <a:pPr marL="457200" algn="just">
              <a:lnSpc>
                <a:spcPct val="150000"/>
              </a:lnSpc>
              <a:spcAft>
                <a:spcPts val="600"/>
              </a:spcAft>
              <a:tabLst>
                <a:tab pos="540385" algn="l"/>
              </a:tabLst>
            </a:pPr>
            <a:r>
              <a:rPr lang="en-ID" sz="1100" b="1" kern="100" dirty="0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=IF(OR(F4&lt;0;F4&gt;1000000);"</a:t>
            </a:r>
            <a:r>
              <a:rPr lang="en-ID" sz="1100" b="1" kern="100" dirty="0" err="1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WrongPrice</a:t>
            </a:r>
            <a:r>
              <a:rPr lang="en-ID" sz="1100" b="1" kern="100" dirty="0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";IF(F4&lt;=200000;"Tier1";IF(F4&lt;=400000;"Tier2";IF(F4&lt;=600000;"Tier 3";IF(F4&lt;=800000;"Tier 4";"Tier 5")))))</a:t>
            </a:r>
            <a:endParaRPr lang="en-ID" sz="1100" kern="100" dirty="0">
              <a:effectLst/>
              <a:latin typeface="Poppins" panose="00000500000000000000" pitchFamily="2" charset="0"/>
              <a:ea typeface="Calibri" panose="020F0502020204030204" pitchFamily="34" charset="0"/>
              <a:cs typeface="Poppins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D06039-F359-7194-546C-06BC2FF26D50}"/>
              </a:ext>
            </a:extLst>
          </p:cNvPr>
          <p:cNvSpPr txBox="1"/>
          <p:nvPr/>
        </p:nvSpPr>
        <p:spPr>
          <a:xfrm>
            <a:off x="204106" y="2493928"/>
            <a:ext cx="4572000" cy="1160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algn="just">
              <a:lnSpc>
                <a:spcPct val="150000"/>
              </a:lnSpc>
              <a:spcAft>
                <a:spcPts val="600"/>
              </a:spcAft>
              <a:buNone/>
              <a:tabLst>
                <a:tab pos="540385" algn="l"/>
              </a:tabLst>
            </a:pPr>
            <a:r>
              <a:rPr lang="en-ID" sz="1100" kern="100" dirty="0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Dimana:</a:t>
            </a:r>
          </a:p>
          <a:p>
            <a:pPr marL="457200" algn="just">
              <a:lnSpc>
                <a:spcPct val="150000"/>
              </a:lnSpc>
              <a:spcAft>
                <a:spcPts val="600"/>
              </a:spcAft>
              <a:buNone/>
              <a:tabLst>
                <a:tab pos="540385" algn="l"/>
              </a:tabLst>
            </a:pPr>
            <a:r>
              <a:rPr lang="en-ID" sz="1100" kern="100" dirty="0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Jika </a:t>
            </a:r>
            <a:r>
              <a:rPr lang="en-ID" sz="1100" kern="100" dirty="0" err="1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jumlah</a:t>
            </a:r>
            <a:r>
              <a:rPr lang="en-ID" sz="1100" kern="100" dirty="0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unit price </a:t>
            </a:r>
            <a:r>
              <a:rPr lang="en-ID" sz="1100" kern="100" dirty="0" err="1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atau</a:t>
            </a:r>
            <a:r>
              <a:rPr lang="en-ID" sz="1100" kern="100" dirty="0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</a:t>
            </a:r>
            <a:r>
              <a:rPr lang="en-ID" sz="1100" kern="100" dirty="0" err="1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kolom</a:t>
            </a:r>
            <a:r>
              <a:rPr lang="en-ID" sz="1100" kern="100" dirty="0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(F) &lt;0 dan &gt;1000000 </a:t>
            </a:r>
            <a:r>
              <a:rPr lang="en-ID" sz="1100" kern="100" dirty="0" err="1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maka</a:t>
            </a:r>
            <a:r>
              <a:rPr lang="en-ID" sz="1100" kern="100" dirty="0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</a:t>
            </a:r>
            <a:r>
              <a:rPr lang="en-ID" sz="1100" kern="100" dirty="0" err="1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masuk</a:t>
            </a:r>
            <a:r>
              <a:rPr lang="en-ID" sz="1100" kern="100" dirty="0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</a:t>
            </a:r>
            <a:r>
              <a:rPr lang="en-ID" sz="1100" kern="100" dirty="0" err="1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ke</a:t>
            </a:r>
            <a:r>
              <a:rPr lang="en-ID" sz="1100" kern="100" dirty="0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wrong price.  </a:t>
            </a:r>
            <a:r>
              <a:rPr lang="en-ID" sz="1100" kern="100" dirty="0" err="1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Namun</a:t>
            </a:r>
            <a:r>
              <a:rPr lang="en-ID" sz="1100" kern="100" dirty="0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</a:t>
            </a:r>
            <a:r>
              <a:rPr lang="en-ID" sz="1100" kern="100" dirty="0" err="1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jika</a:t>
            </a:r>
            <a:r>
              <a:rPr lang="en-ID" sz="1100" kern="100" dirty="0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</a:t>
            </a:r>
            <a:r>
              <a:rPr lang="en-ID" sz="1100" kern="100" dirty="0" err="1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tidak</a:t>
            </a:r>
            <a:r>
              <a:rPr lang="en-ID" sz="1100" kern="100" dirty="0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</a:t>
            </a:r>
            <a:r>
              <a:rPr lang="en-ID" sz="1100" kern="100" dirty="0" err="1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berarti</a:t>
            </a:r>
            <a:r>
              <a:rPr lang="en-ID" sz="1100" kern="100" dirty="0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</a:t>
            </a:r>
            <a:r>
              <a:rPr lang="en-ID" sz="1100" kern="100" dirty="0" err="1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memenuhi</a:t>
            </a:r>
            <a:r>
              <a:rPr lang="en-ID" sz="1100" kern="100" dirty="0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</a:t>
            </a:r>
            <a:r>
              <a:rPr lang="en-ID" sz="1100" kern="100" dirty="0" err="1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ketentuin</a:t>
            </a:r>
            <a:r>
              <a:rPr lang="en-ID" sz="1100" kern="100" dirty="0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</a:t>
            </a:r>
            <a:r>
              <a:rPr lang="en-ID" sz="1100" kern="100" dirty="0" err="1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ini</a:t>
            </a:r>
            <a:r>
              <a:rPr lang="en-ID" sz="1100" kern="100" dirty="0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: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95488CD-B16C-AEBE-6C71-7A85E7ACC4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0335369"/>
              </p:ext>
            </p:extLst>
          </p:nvPr>
        </p:nvGraphicFramePr>
        <p:xfrm>
          <a:off x="767442" y="3786927"/>
          <a:ext cx="2269672" cy="92075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269672">
                  <a:extLst>
                    <a:ext uri="{9D8B030D-6E8A-4147-A177-3AD203B41FA5}">
                      <a16:colId xmlns:a16="http://schemas.microsoft.com/office/drawing/2014/main" val="328455744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marL="37846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Tier 1 = 0-200000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6048744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37846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Tier 2 = 201000-400000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2482976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37846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Tier 3 = 401000-600000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08204104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37846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>
                          <a:effectLst/>
                        </a:rPr>
                        <a:t>Tier 4 = 601000-800000</a:t>
                      </a:r>
                      <a:endParaRPr lang="en-ID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53883367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37846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0" dirty="0">
                          <a:effectLst/>
                        </a:rPr>
                        <a:t>Tier 5 = 801000-1000000</a:t>
                      </a:r>
                      <a:endParaRPr lang="en-ID" sz="1200" kern="100" dirty="0">
                        <a:effectLst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805508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675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1">
          <a:extLst>
            <a:ext uri="{FF2B5EF4-FFF2-40B4-BE49-F238E27FC236}">
              <a16:creationId xmlns:a16="http://schemas.microsoft.com/office/drawing/2014/main" id="{09868EDF-1855-21B9-0961-729234B8B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>
            <a:extLst>
              <a:ext uri="{FF2B5EF4-FFF2-40B4-BE49-F238E27FC236}">
                <a16:creationId xmlns:a16="http://schemas.microsoft.com/office/drawing/2014/main" id="{C318AB85-E597-A0CE-7BD1-BE0070429B57}"/>
              </a:ext>
            </a:extLst>
          </p:cNvPr>
          <p:cNvSpPr txBox="1"/>
          <p:nvPr/>
        </p:nvSpPr>
        <p:spPr>
          <a:xfrm>
            <a:off x="3831225" y="609525"/>
            <a:ext cx="2918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RESULT</a:t>
            </a:r>
            <a:endParaRPr sz="30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112;p21">
            <a:extLst>
              <a:ext uri="{FF2B5EF4-FFF2-40B4-BE49-F238E27FC236}">
                <a16:creationId xmlns:a16="http://schemas.microsoft.com/office/drawing/2014/main" id="{DA275ADC-0F7D-BE6F-B8F9-05C12EC3C5E6}"/>
              </a:ext>
            </a:extLst>
          </p:cNvPr>
          <p:cNvSpPr txBox="1"/>
          <p:nvPr/>
        </p:nvSpPr>
        <p:spPr>
          <a:xfrm>
            <a:off x="3831225" y="609525"/>
            <a:ext cx="2918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3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RESULT</a:t>
            </a:r>
            <a:endParaRPr sz="30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330BDDB-994A-A2FD-28AE-335820B43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0148" y="-542469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=COUNTA(UNIQUE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A26B68-E46C-1F94-40EF-620AB7A995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033704"/>
              </p:ext>
            </p:extLst>
          </p:nvPr>
        </p:nvGraphicFramePr>
        <p:xfrm>
          <a:off x="542925" y="1256025"/>
          <a:ext cx="8395018" cy="330615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822893">
                  <a:extLst>
                    <a:ext uri="{9D8B030D-6E8A-4147-A177-3AD203B41FA5}">
                      <a16:colId xmlns:a16="http://schemas.microsoft.com/office/drawing/2014/main" val="4229883785"/>
                    </a:ext>
                  </a:extLst>
                </a:gridCol>
                <a:gridCol w="3826918">
                  <a:extLst>
                    <a:ext uri="{9D8B030D-6E8A-4147-A177-3AD203B41FA5}">
                      <a16:colId xmlns:a16="http://schemas.microsoft.com/office/drawing/2014/main" val="637481504"/>
                    </a:ext>
                  </a:extLst>
                </a:gridCol>
                <a:gridCol w="1745207">
                  <a:extLst>
                    <a:ext uri="{9D8B030D-6E8A-4147-A177-3AD203B41FA5}">
                      <a16:colId xmlns:a16="http://schemas.microsoft.com/office/drawing/2014/main" val="3624943934"/>
                    </a:ext>
                  </a:extLst>
                </a:gridCol>
              </a:tblGrid>
              <a:tr h="433982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Kondisi</a:t>
                      </a:r>
                      <a:endParaRPr lang="en-ID" sz="11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Rumus </a:t>
                      </a:r>
                      <a:endParaRPr lang="en-ID" sz="11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Hasil</a:t>
                      </a:r>
                      <a:endParaRPr lang="en-ID" sz="11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7751605"/>
                  </a:ext>
                </a:extLst>
              </a:tr>
              <a:tr h="574434"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Tier 5, Agustus, Completed</a:t>
                      </a:r>
                      <a:endParaRPr lang="en-ID" sz="11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1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=AND( X4="Tier 5";MONTH(B4)=8; O4="Completed")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</a:t>
                      </a:r>
                      <a:endParaRPr lang="en-ID" sz="1100" b="1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9639321"/>
                  </a:ext>
                </a:extLst>
              </a:tr>
              <a:tr h="574434"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Tier 3, Kota </a:t>
                      </a:r>
                      <a:r>
                        <a:rPr lang="en-US" sz="11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bandung</a:t>
                      </a:r>
                      <a:r>
                        <a:rPr lang="en-US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Status Returned</a:t>
                      </a:r>
                      <a:endParaRPr lang="en-ID" sz="11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1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=AND(X4="Tier 3";D4="Bandung";O4="Returned")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12</a:t>
                      </a:r>
                      <a:endParaRPr lang="en-ID" sz="1100" b="1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4944912"/>
                  </a:ext>
                </a:extLst>
              </a:tr>
              <a:tr h="574434"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Tier 1, Kartu </a:t>
                      </a:r>
                      <a:r>
                        <a:rPr lang="en-US" sz="11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Kredit</a:t>
                      </a:r>
                      <a:r>
                        <a:rPr lang="en-US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en-US" sz="11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Ukuran</a:t>
                      </a:r>
                      <a:r>
                        <a:rPr lang="en-US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M</a:t>
                      </a:r>
                      <a:endParaRPr lang="en-ID" sz="11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1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=AND(X4="Tier 1";N4="Kartu Kredit";R4="M")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1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14.738</a:t>
                      </a:r>
                      <a:endParaRPr lang="en-ID" sz="1100" b="1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9608221"/>
                  </a:ext>
                </a:extLst>
              </a:tr>
              <a:tr h="574434"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Tier 2, Jersey, Pria</a:t>
                      </a:r>
                      <a:endParaRPr lang="en-ID" sz="11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1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=AND(X4="Tier 2";S4=“Jersey";T4=“Pria")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79</a:t>
                      </a:r>
                      <a:endParaRPr lang="en-ID" sz="1100" b="1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5911996"/>
                  </a:ext>
                </a:extLst>
              </a:tr>
              <a:tr h="574434"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Tier 4, </a:t>
                      </a:r>
                      <a:r>
                        <a:rPr lang="en-US" sz="11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Gamis</a:t>
                      </a:r>
                      <a:r>
                        <a:rPr lang="en-US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Kota Bengkulu</a:t>
                      </a:r>
                      <a:endParaRPr lang="en-ID" sz="11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1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=AND(X4="Tier 2";E4="Gamis";D4="Bengkulu")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</a:t>
                      </a:r>
                      <a:endParaRPr lang="en-ID" sz="1100" b="1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4518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8935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/>
        </p:nvSpPr>
        <p:spPr>
          <a:xfrm>
            <a:off x="3015525" y="537375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Task 3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D1DFA6-B5A0-8865-584A-A871F7CA77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4257" y="1175658"/>
            <a:ext cx="6335486" cy="356371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/>
        </p:nvSpPr>
        <p:spPr>
          <a:xfrm>
            <a:off x="3831225" y="609525"/>
            <a:ext cx="2918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RESULT</a:t>
            </a:r>
            <a:endParaRPr sz="30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B311A1-933E-53A9-7C0E-83D888F4E7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769559"/>
              </p:ext>
            </p:extLst>
          </p:nvPr>
        </p:nvGraphicFramePr>
        <p:xfrm>
          <a:off x="538843" y="1256026"/>
          <a:ext cx="8229597" cy="2484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43199">
                  <a:extLst>
                    <a:ext uri="{9D8B030D-6E8A-4147-A177-3AD203B41FA5}">
                      <a16:colId xmlns:a16="http://schemas.microsoft.com/office/drawing/2014/main" val="3415164756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369463320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3723679758"/>
                    </a:ext>
                  </a:extLst>
                </a:gridCol>
              </a:tblGrid>
              <a:tr h="2302094">
                <a:tc>
                  <a:txBody>
                    <a:bodyPr/>
                    <a:lstStyle/>
                    <a:p>
                      <a:endParaRPr lang="en-ID" sz="11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endParaRPr lang="en-ID" sz="11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r>
                        <a:rPr lang="en-ID" sz="11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Menghitung</a:t>
                      </a:r>
                      <a:r>
                        <a:rPr lang="en-ID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grand total </a:t>
                      </a:r>
                      <a:r>
                        <a:rPr lang="en-ID" sz="11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pelanggan</a:t>
                      </a:r>
                      <a:r>
                        <a:rPr lang="en-ID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1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pria</a:t>
                      </a:r>
                      <a:r>
                        <a:rPr lang="en-ID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1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dengan</a:t>
                      </a:r>
                      <a:r>
                        <a:rPr lang="en-ID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customer rating &gt;=4.</a:t>
                      </a:r>
                    </a:p>
                    <a:p>
                      <a:endParaRPr lang="en-ID" sz="11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r>
                        <a:rPr lang="en-ID" sz="1100" b="1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Rumus</a:t>
                      </a:r>
                      <a:r>
                        <a:rPr lang="en-ID" sz="11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=SUMIFS(Data!$M$5:$M$15005;Data!$T$5:$T$15005;"Pria";Data!Q5:Q15005;"&gt;=4")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D" sz="1100" b="0" i="0" u="none" strike="noStrike" cap="none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100" b="1" i="0" u="none" strike="noStrike" cap="non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Hasil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5.419.679.600,00 </a:t>
                      </a:r>
                      <a:endParaRPr lang="en-ID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endParaRPr lang="en-US" sz="11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r>
                        <a:rPr lang="en-US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Menghitung total sales pelanggan Wanita </a:t>
                      </a:r>
                      <a:r>
                        <a:rPr lang="en-US" sz="11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dengan</a:t>
                      </a:r>
                      <a:r>
                        <a:rPr lang="en-US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status completed.</a:t>
                      </a:r>
                    </a:p>
                    <a:p>
                      <a:endParaRPr lang="en-US" sz="11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r>
                        <a:rPr lang="en-US" sz="11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Rumus: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=SUMIFS(Data!$K$5:$K$15005;Data!T5:T15005;"Wanita";Data!$O$5:$O$15005;"Completed")</a:t>
                      </a:r>
                    </a:p>
                    <a:p>
                      <a:endParaRPr lang="en-ID" sz="11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100" b="1" i="0" u="none" strike="noStrike" cap="non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Hasil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1.991.083.400,00 </a:t>
                      </a:r>
                      <a:endParaRPr lang="en-ID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  <a:sym typeface="Arial"/>
                      </a:endParaRPr>
                    </a:p>
                    <a:p>
                      <a:endParaRPr lang="en-ID" sz="11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endParaRPr lang="en-ID" sz="11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r>
                        <a:rPr lang="en-ID" sz="11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Menghitung</a:t>
                      </a:r>
                      <a:r>
                        <a:rPr lang="en-ID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rata-rata Grand total </a:t>
                      </a:r>
                      <a:r>
                        <a:rPr lang="en-ID" sz="11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dengan</a:t>
                      </a:r>
                      <a:r>
                        <a:rPr lang="en-ID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customer rating &gt;=4 dan total sales &gt;500.000</a:t>
                      </a:r>
                    </a:p>
                    <a:p>
                      <a:endParaRPr lang="en-ID" sz="11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r>
                        <a:rPr lang="en-ID" sz="1100" b="1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Rumus</a:t>
                      </a:r>
                      <a:r>
                        <a:rPr lang="en-ID" sz="11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=AVERAGEIFS(Data!$M$5:$M$15005;Data!$Q$5:$Q$15005;"&gt;=4";Data!$K$5:$K$15005;"&gt;500000")</a:t>
                      </a:r>
                    </a:p>
                    <a:p>
                      <a:endParaRPr lang="en-ID" sz="11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100" b="1" i="0" u="none" strike="noStrike" cap="non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Hasil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1.762.078,61 </a:t>
                      </a:r>
                      <a:endParaRPr lang="en-ID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  <a:sym typeface="Arial"/>
                      </a:endParaRPr>
                    </a:p>
                    <a:p>
                      <a:endParaRPr lang="en-ID" sz="11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921351"/>
                  </a:ext>
                </a:extLst>
              </a:tr>
            </a:tbl>
          </a:graphicData>
        </a:graphic>
      </p:graphicFrame>
      <p:sp>
        <p:nvSpPr>
          <p:cNvPr id="3" name="Google Shape;112;p21">
            <a:extLst>
              <a:ext uri="{FF2B5EF4-FFF2-40B4-BE49-F238E27FC236}">
                <a16:creationId xmlns:a16="http://schemas.microsoft.com/office/drawing/2014/main" id="{45F05115-BFB4-A0CF-95D5-347BF951EAA9}"/>
              </a:ext>
            </a:extLst>
          </p:cNvPr>
          <p:cNvSpPr txBox="1"/>
          <p:nvPr/>
        </p:nvSpPr>
        <p:spPr>
          <a:xfrm>
            <a:off x="538843" y="1256025"/>
            <a:ext cx="438696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01 </a:t>
            </a:r>
            <a:endParaRPr sz="16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12;p21">
            <a:extLst>
              <a:ext uri="{FF2B5EF4-FFF2-40B4-BE49-F238E27FC236}">
                <a16:creationId xmlns:a16="http://schemas.microsoft.com/office/drawing/2014/main" id="{93DDC6B2-9D94-FE73-5C79-FB8D9DD2B2AA}"/>
              </a:ext>
            </a:extLst>
          </p:cNvPr>
          <p:cNvSpPr txBox="1"/>
          <p:nvPr/>
        </p:nvSpPr>
        <p:spPr>
          <a:xfrm>
            <a:off x="3271157" y="1256024"/>
            <a:ext cx="438696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02 </a:t>
            </a:r>
            <a:endParaRPr sz="16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Google Shape;112;p21">
            <a:extLst>
              <a:ext uri="{FF2B5EF4-FFF2-40B4-BE49-F238E27FC236}">
                <a16:creationId xmlns:a16="http://schemas.microsoft.com/office/drawing/2014/main" id="{695C2DEC-DC50-7A4E-8B73-B784581C9E48}"/>
              </a:ext>
            </a:extLst>
          </p:cNvPr>
          <p:cNvSpPr txBox="1"/>
          <p:nvPr/>
        </p:nvSpPr>
        <p:spPr>
          <a:xfrm>
            <a:off x="6003471" y="1256024"/>
            <a:ext cx="438696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03 </a:t>
            </a:r>
            <a:endParaRPr sz="16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Google Shape;112;p21">
            <a:extLst>
              <a:ext uri="{FF2B5EF4-FFF2-40B4-BE49-F238E27FC236}">
                <a16:creationId xmlns:a16="http://schemas.microsoft.com/office/drawing/2014/main" id="{2D51E5D8-95B8-C6EB-A334-29F8EF727ACF}"/>
              </a:ext>
            </a:extLst>
          </p:cNvPr>
          <p:cNvSpPr txBox="1"/>
          <p:nvPr/>
        </p:nvSpPr>
        <p:spPr>
          <a:xfrm>
            <a:off x="691243" y="1408425"/>
            <a:ext cx="438696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6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Google Shape;112;p21">
            <a:extLst>
              <a:ext uri="{FF2B5EF4-FFF2-40B4-BE49-F238E27FC236}">
                <a16:creationId xmlns:a16="http://schemas.microsoft.com/office/drawing/2014/main" id="{DAFB2D80-CF19-E155-A3E6-2E8C217BE3D0}"/>
              </a:ext>
            </a:extLst>
          </p:cNvPr>
          <p:cNvSpPr txBox="1"/>
          <p:nvPr/>
        </p:nvSpPr>
        <p:spPr>
          <a:xfrm>
            <a:off x="2596427" y="1231468"/>
            <a:ext cx="705758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SUMIFS </a:t>
            </a:r>
            <a:endParaRPr sz="11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112;p21">
            <a:extLst>
              <a:ext uri="{FF2B5EF4-FFF2-40B4-BE49-F238E27FC236}">
                <a16:creationId xmlns:a16="http://schemas.microsoft.com/office/drawing/2014/main" id="{54F1610E-94B0-667B-8682-053B07005250}"/>
              </a:ext>
            </a:extLst>
          </p:cNvPr>
          <p:cNvSpPr txBox="1"/>
          <p:nvPr/>
        </p:nvSpPr>
        <p:spPr>
          <a:xfrm>
            <a:off x="5343134" y="1231468"/>
            <a:ext cx="705758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SUMIFS </a:t>
            </a:r>
            <a:endParaRPr sz="11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Google Shape;112;p21">
            <a:extLst>
              <a:ext uri="{FF2B5EF4-FFF2-40B4-BE49-F238E27FC236}">
                <a16:creationId xmlns:a16="http://schemas.microsoft.com/office/drawing/2014/main" id="{F06092CC-020E-F5E2-C769-FA0981566DAC}"/>
              </a:ext>
            </a:extLst>
          </p:cNvPr>
          <p:cNvSpPr txBox="1"/>
          <p:nvPr/>
        </p:nvSpPr>
        <p:spPr>
          <a:xfrm>
            <a:off x="7784097" y="1231467"/>
            <a:ext cx="1045029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AVERAGEIFS </a:t>
            </a:r>
            <a:endParaRPr sz="11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/>
        </p:nvSpPr>
        <p:spPr>
          <a:xfrm>
            <a:off x="3831225" y="609525"/>
            <a:ext cx="2918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RESULT</a:t>
            </a:r>
            <a:endParaRPr sz="30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B923441-3FD9-7621-E772-2592C947FB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427875"/>
              </p:ext>
            </p:extLst>
          </p:nvPr>
        </p:nvGraphicFramePr>
        <p:xfrm>
          <a:off x="572709" y="1530888"/>
          <a:ext cx="8229597" cy="238071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43199">
                  <a:extLst>
                    <a:ext uri="{9D8B030D-6E8A-4147-A177-3AD203B41FA5}">
                      <a16:colId xmlns:a16="http://schemas.microsoft.com/office/drawing/2014/main" val="3415164756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369463320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3723679758"/>
                    </a:ext>
                  </a:extLst>
                </a:gridCol>
              </a:tblGrid>
              <a:tr h="23807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100" b="1" i="0" u="none" strike="noStrike" cap="none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D" sz="1100" b="1" i="0" u="none" strike="noStrike" cap="none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Menghitung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rata-rata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pesanan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grand total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untuk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pesanan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</a:t>
                      </a:r>
                      <a:r>
                        <a:rPr lang="en-ID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dengan</a:t>
                      </a: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status returned.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D" sz="1100" b="0" i="0" u="none" strike="noStrike" cap="none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100" b="1" i="0" u="none" strike="noStrike" cap="none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Rumus</a:t>
                      </a:r>
                      <a:r>
                        <a:rPr lang="en-ID" sz="1100" b="1" i="0" u="none" strike="noStrike" cap="non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=AVERAGEIFS(Data!$M$5:$M$15005;Data!$O$5:$O$15005;"Returned")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D" sz="1100" b="0" i="0" u="none" strike="noStrike" cap="none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100" b="1" i="0" u="none" strike="noStrike" cap="non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Hasil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 1.528.228,01 </a:t>
                      </a:r>
                      <a:endParaRPr lang="en-ID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endParaRPr lang="en-ID" sz="11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r>
                        <a:rPr lang="en-ID" sz="11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Menghitung</a:t>
                      </a:r>
                      <a:r>
                        <a:rPr lang="en-ID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1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jumlah</a:t>
                      </a:r>
                      <a:r>
                        <a:rPr lang="en-ID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1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transaksi</a:t>
                      </a:r>
                      <a:r>
                        <a:rPr lang="en-ID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yang </a:t>
                      </a:r>
                      <a:r>
                        <a:rPr lang="en-ID" sz="11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mendapat</a:t>
                      </a:r>
                      <a:r>
                        <a:rPr lang="en-ID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1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diskon</a:t>
                      </a:r>
                      <a:r>
                        <a:rPr lang="en-ID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&gt;0% dan </a:t>
                      </a:r>
                      <a:r>
                        <a:rPr lang="en-ID" sz="11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memiliki</a:t>
                      </a:r>
                      <a:r>
                        <a:rPr lang="en-ID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customer rating =5.</a:t>
                      </a:r>
                    </a:p>
                    <a:p>
                      <a:endParaRPr lang="en-ID" sz="11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r>
                        <a:rPr lang="en-ID" sz="1100" b="1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Rumus</a:t>
                      </a:r>
                      <a:r>
                        <a:rPr lang="en-ID" sz="11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=COUNTIFS(Data!$H$5:$H$15005;"&gt;0";Data!$Q$5:$Q$15005;"&gt;=5")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D" sz="1100" b="0" i="0" u="none" strike="noStrike" cap="none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100" b="1" i="0" u="none" strike="noStrike" cap="non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Hasil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150</a:t>
                      </a:r>
                      <a:endParaRPr lang="en-ID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endParaRPr lang="en-ID" sz="11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r>
                        <a:rPr lang="en-ID" sz="11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Menghitung</a:t>
                      </a:r>
                      <a:r>
                        <a:rPr lang="en-ID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1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jumlah</a:t>
                      </a:r>
                      <a:r>
                        <a:rPr lang="en-ID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1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pesanan</a:t>
                      </a:r>
                      <a:r>
                        <a:rPr lang="en-ID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1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dengan</a:t>
                      </a:r>
                      <a:r>
                        <a:rPr lang="en-ID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status cancelled dan </a:t>
                      </a:r>
                      <a:r>
                        <a:rPr lang="en-ID" sz="11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metode</a:t>
                      </a:r>
                      <a:r>
                        <a:rPr lang="en-ID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1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pembayaran</a:t>
                      </a:r>
                      <a:r>
                        <a:rPr lang="en-ID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COD.</a:t>
                      </a:r>
                    </a:p>
                    <a:p>
                      <a:endParaRPr lang="en-ID" sz="11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r>
                        <a:rPr lang="en-ID" sz="1100" b="1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Rumus</a:t>
                      </a:r>
                      <a:r>
                        <a:rPr lang="en-ID" sz="11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=COUNTIFS(Table1[OrderStatus];"Cancelled";Table1[Payment Method];"COD")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D" sz="1100" b="0" i="0" u="none" strike="noStrike" cap="none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100" b="1" i="0" u="none" strike="noStrike" cap="non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Hasil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Arial"/>
                        </a:rPr>
                        <a:t>273</a:t>
                      </a:r>
                      <a:endParaRPr lang="en-ID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921351"/>
                  </a:ext>
                </a:extLst>
              </a:tr>
            </a:tbl>
          </a:graphicData>
        </a:graphic>
      </p:graphicFrame>
      <p:sp>
        <p:nvSpPr>
          <p:cNvPr id="7" name="Google Shape;112;p21">
            <a:extLst>
              <a:ext uri="{FF2B5EF4-FFF2-40B4-BE49-F238E27FC236}">
                <a16:creationId xmlns:a16="http://schemas.microsoft.com/office/drawing/2014/main" id="{767F5C4B-6D5E-1F6C-17DA-EBCF3BEB04E4}"/>
              </a:ext>
            </a:extLst>
          </p:cNvPr>
          <p:cNvSpPr txBox="1"/>
          <p:nvPr/>
        </p:nvSpPr>
        <p:spPr>
          <a:xfrm>
            <a:off x="572709" y="1530889"/>
            <a:ext cx="517071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04 </a:t>
            </a:r>
            <a:endParaRPr sz="16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Google Shape;112;p21">
            <a:extLst>
              <a:ext uri="{FF2B5EF4-FFF2-40B4-BE49-F238E27FC236}">
                <a16:creationId xmlns:a16="http://schemas.microsoft.com/office/drawing/2014/main" id="{FC77654B-CA9A-0494-B216-03B4AB7D45EF}"/>
              </a:ext>
            </a:extLst>
          </p:cNvPr>
          <p:cNvSpPr txBox="1"/>
          <p:nvPr/>
        </p:nvSpPr>
        <p:spPr>
          <a:xfrm>
            <a:off x="3299034" y="1530889"/>
            <a:ext cx="566057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sz="16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Google Shape;112;p21">
            <a:extLst>
              <a:ext uri="{FF2B5EF4-FFF2-40B4-BE49-F238E27FC236}">
                <a16:creationId xmlns:a16="http://schemas.microsoft.com/office/drawing/2014/main" id="{7DF3A789-586F-EA42-0EDA-F4A47B062290}"/>
              </a:ext>
            </a:extLst>
          </p:cNvPr>
          <p:cNvSpPr txBox="1"/>
          <p:nvPr/>
        </p:nvSpPr>
        <p:spPr>
          <a:xfrm>
            <a:off x="6051216" y="1530889"/>
            <a:ext cx="527957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  <a:endParaRPr sz="16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Google Shape;112;p21">
            <a:extLst>
              <a:ext uri="{FF2B5EF4-FFF2-40B4-BE49-F238E27FC236}">
                <a16:creationId xmlns:a16="http://schemas.microsoft.com/office/drawing/2014/main" id="{A9307430-2C64-EA5E-B911-457246F47E54}"/>
              </a:ext>
            </a:extLst>
          </p:cNvPr>
          <p:cNvSpPr txBox="1"/>
          <p:nvPr/>
        </p:nvSpPr>
        <p:spPr>
          <a:xfrm>
            <a:off x="2284011" y="1505489"/>
            <a:ext cx="1052040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AVERAGEIFS </a:t>
            </a:r>
            <a:endParaRPr sz="11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Google Shape;112;p21">
            <a:extLst>
              <a:ext uri="{FF2B5EF4-FFF2-40B4-BE49-F238E27FC236}">
                <a16:creationId xmlns:a16="http://schemas.microsoft.com/office/drawing/2014/main" id="{91147620-73B0-D98E-BF43-B1C24E9E9CFA}"/>
              </a:ext>
            </a:extLst>
          </p:cNvPr>
          <p:cNvSpPr txBox="1"/>
          <p:nvPr/>
        </p:nvSpPr>
        <p:spPr>
          <a:xfrm>
            <a:off x="5173437" y="1505488"/>
            <a:ext cx="928371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COUNTIFS </a:t>
            </a:r>
            <a:endParaRPr sz="11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Google Shape;112;p21">
            <a:extLst>
              <a:ext uri="{FF2B5EF4-FFF2-40B4-BE49-F238E27FC236}">
                <a16:creationId xmlns:a16="http://schemas.microsoft.com/office/drawing/2014/main" id="{00B4D286-8D9F-0459-E602-63F64BB0A3D9}"/>
              </a:ext>
            </a:extLst>
          </p:cNvPr>
          <p:cNvSpPr txBox="1"/>
          <p:nvPr/>
        </p:nvSpPr>
        <p:spPr>
          <a:xfrm>
            <a:off x="7934621" y="1511839"/>
            <a:ext cx="928371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COUNTIFS </a:t>
            </a:r>
            <a:endParaRPr sz="11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/>
        </p:nvSpPr>
        <p:spPr>
          <a:xfrm>
            <a:off x="3015525" y="537375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Task 4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984EB5-57E0-B0E6-259B-B24D16A20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0866" y="1202267"/>
            <a:ext cx="6282267" cy="35337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/>
          <p:cNvSpPr txBox="1"/>
          <p:nvPr/>
        </p:nvSpPr>
        <p:spPr>
          <a:xfrm>
            <a:off x="3831225" y="609525"/>
            <a:ext cx="2918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RESULT</a:t>
            </a:r>
            <a:endParaRPr sz="30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38D6989-57B3-10CC-D9EF-F8A96CEDF7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317"/>
          <a:stretch>
            <a:fillRect/>
          </a:stretch>
        </p:blipFill>
        <p:spPr>
          <a:xfrm>
            <a:off x="1025921" y="1329266"/>
            <a:ext cx="1783320" cy="990469"/>
          </a:xfrm>
          <a:prstGeom prst="rect">
            <a:avLst/>
          </a:prstGeom>
        </p:spPr>
      </p:pic>
      <p:sp>
        <p:nvSpPr>
          <p:cNvPr id="3" name="Google Shape;112;p21">
            <a:extLst>
              <a:ext uri="{FF2B5EF4-FFF2-40B4-BE49-F238E27FC236}">
                <a16:creationId xmlns:a16="http://schemas.microsoft.com/office/drawing/2014/main" id="{821B9820-4B41-BC8D-7CA3-106B3AA0FA08}"/>
              </a:ext>
            </a:extLst>
          </p:cNvPr>
          <p:cNvSpPr txBox="1"/>
          <p:nvPr/>
        </p:nvSpPr>
        <p:spPr>
          <a:xfrm>
            <a:off x="587224" y="1256025"/>
            <a:ext cx="438696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01 </a:t>
            </a:r>
            <a:endParaRPr sz="16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7CE8C5-636B-4A2D-951D-EBA103E80827}"/>
              </a:ext>
            </a:extLst>
          </p:cNvPr>
          <p:cNvSpPr/>
          <p:nvPr/>
        </p:nvSpPr>
        <p:spPr>
          <a:xfrm>
            <a:off x="933210" y="2280392"/>
            <a:ext cx="2150350" cy="335806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accent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Toko Fashion App </a:t>
            </a:r>
            <a:r>
              <a:rPr lang="en-US" sz="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penyumbang</a:t>
            </a:r>
            <a:r>
              <a:rPr lang="en-US" sz="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terbanyak</a:t>
            </a:r>
            <a:r>
              <a:rPr lang="en-US" sz="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penjualan</a:t>
            </a:r>
            <a:r>
              <a:rPr lang="en-US" sz="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endParaRPr lang="en-ID" sz="8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8E23DB-FF19-C6D7-286B-95A5D2F78E2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286"/>
          <a:stretch>
            <a:fillRect/>
          </a:stretch>
        </p:blipFill>
        <p:spPr>
          <a:xfrm>
            <a:off x="4155016" y="1327149"/>
            <a:ext cx="3884084" cy="1143821"/>
          </a:xfrm>
          <a:prstGeom prst="rect">
            <a:avLst/>
          </a:prstGeom>
        </p:spPr>
      </p:pic>
      <p:sp>
        <p:nvSpPr>
          <p:cNvPr id="6" name="Google Shape;112;p21">
            <a:extLst>
              <a:ext uri="{FF2B5EF4-FFF2-40B4-BE49-F238E27FC236}">
                <a16:creationId xmlns:a16="http://schemas.microsoft.com/office/drawing/2014/main" id="{223D1690-16F1-5321-3E3F-377782980356}"/>
              </a:ext>
            </a:extLst>
          </p:cNvPr>
          <p:cNvSpPr txBox="1"/>
          <p:nvPr/>
        </p:nvSpPr>
        <p:spPr>
          <a:xfrm>
            <a:off x="3716320" y="1238249"/>
            <a:ext cx="438696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16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5E5C00-8289-10BE-052F-2EC1CF16ECBB}"/>
              </a:ext>
            </a:extLst>
          </p:cNvPr>
          <p:cNvSpPr/>
          <p:nvPr/>
        </p:nvSpPr>
        <p:spPr>
          <a:xfrm>
            <a:off x="4980275" y="2504628"/>
            <a:ext cx="2748883" cy="335806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Platform </a:t>
            </a:r>
            <a:r>
              <a:rPr lang="en-US" sz="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US" sz="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selisih</a:t>
            </a:r>
            <a:r>
              <a:rPr lang="en-US" sz="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terbesar</a:t>
            </a:r>
            <a:r>
              <a:rPr lang="en-US" sz="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antara</a:t>
            </a:r>
            <a:r>
              <a:rPr lang="en-US" sz="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pria</a:t>
            </a:r>
            <a:r>
              <a:rPr lang="en-US" sz="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dan Wanita adalah pada </a:t>
            </a:r>
            <a:r>
              <a:rPr lang="en-US" sz="800" dirty="0">
                <a:solidFill>
                  <a:schemeClr val="accent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Toko Fashion App</a:t>
            </a:r>
            <a:r>
              <a:rPr lang="en-US" sz="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endParaRPr lang="en-ID" sz="8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Google Shape;112;p21">
            <a:extLst>
              <a:ext uri="{FF2B5EF4-FFF2-40B4-BE49-F238E27FC236}">
                <a16:creationId xmlns:a16="http://schemas.microsoft.com/office/drawing/2014/main" id="{D76A661B-45D6-CFF1-AF6D-EB693DDFA67A}"/>
              </a:ext>
            </a:extLst>
          </p:cNvPr>
          <p:cNvSpPr txBox="1"/>
          <p:nvPr/>
        </p:nvSpPr>
        <p:spPr>
          <a:xfrm>
            <a:off x="587224" y="3025762"/>
            <a:ext cx="438696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16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509B59-B138-0C3F-56BD-29193EF182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486" y="3025762"/>
            <a:ext cx="1506888" cy="175537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EF049A3-C923-ED38-9F59-571D680449C6}"/>
              </a:ext>
            </a:extLst>
          </p:cNvPr>
          <p:cNvSpPr/>
          <p:nvPr/>
        </p:nvSpPr>
        <p:spPr>
          <a:xfrm>
            <a:off x="6207759" y="3780921"/>
            <a:ext cx="2494429" cy="42531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Berdasarkan</a:t>
            </a:r>
            <a:r>
              <a:rPr lang="en-ID" sz="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GrafikTotal</a:t>
            </a:r>
            <a:r>
              <a:rPr lang="en-ID" sz="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sales </a:t>
            </a:r>
            <a:r>
              <a:rPr lang="en-ID" sz="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tertinggi</a:t>
            </a:r>
            <a:r>
              <a:rPr lang="en-ID" sz="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berada</a:t>
            </a:r>
            <a:r>
              <a:rPr lang="en-ID" sz="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pada </a:t>
            </a:r>
            <a:r>
              <a:rPr lang="en-ID" sz="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bulan</a:t>
            </a:r>
            <a:r>
              <a:rPr lang="en-ID" sz="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800" dirty="0" err="1">
                <a:solidFill>
                  <a:schemeClr val="accent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oktober</a:t>
            </a:r>
            <a:r>
              <a:rPr lang="en-ID" sz="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  <a:endParaRPr lang="en-ID" sz="4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2076161"/>
              </p:ext>
            </p:extLst>
          </p:nvPr>
        </p:nvGraphicFramePr>
        <p:xfrm>
          <a:off x="2978727" y="3183996"/>
          <a:ext cx="3108144" cy="14389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90C9C91-B486-C70E-C932-5B2746EA2A46}"/>
              </a:ext>
            </a:extLst>
          </p:cNvPr>
          <p:cNvCxnSpPr>
            <a:stCxn id="9" idx="3"/>
            <a:endCxn id="14" idx="1"/>
          </p:cNvCxnSpPr>
          <p:nvPr/>
        </p:nvCxnSpPr>
        <p:spPr>
          <a:xfrm flipV="1">
            <a:off x="2640374" y="3903451"/>
            <a:ext cx="338353" cy="1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1">
          <a:extLst>
            <a:ext uri="{FF2B5EF4-FFF2-40B4-BE49-F238E27FC236}">
              <a16:creationId xmlns:a16="http://schemas.microsoft.com/office/drawing/2014/main" id="{06A54D9E-D7FC-F7AA-5B86-5249E9B65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>
            <a:extLst>
              <a:ext uri="{FF2B5EF4-FFF2-40B4-BE49-F238E27FC236}">
                <a16:creationId xmlns:a16="http://schemas.microsoft.com/office/drawing/2014/main" id="{C8AC1F3B-17CE-D360-E541-490002D53C99}"/>
              </a:ext>
            </a:extLst>
          </p:cNvPr>
          <p:cNvSpPr txBox="1"/>
          <p:nvPr/>
        </p:nvSpPr>
        <p:spPr>
          <a:xfrm>
            <a:off x="3831225" y="609525"/>
            <a:ext cx="2918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RESULT</a:t>
            </a:r>
            <a:endParaRPr sz="30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112;p21">
            <a:extLst>
              <a:ext uri="{FF2B5EF4-FFF2-40B4-BE49-F238E27FC236}">
                <a16:creationId xmlns:a16="http://schemas.microsoft.com/office/drawing/2014/main" id="{3CCC096B-7002-F509-C3AB-B58A48273EE3}"/>
              </a:ext>
            </a:extLst>
          </p:cNvPr>
          <p:cNvSpPr txBox="1"/>
          <p:nvPr/>
        </p:nvSpPr>
        <p:spPr>
          <a:xfrm>
            <a:off x="587224" y="1256025"/>
            <a:ext cx="478368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04 </a:t>
            </a:r>
            <a:endParaRPr sz="16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963EB6-2109-9249-D59F-48F1B2C84D18}"/>
              </a:ext>
            </a:extLst>
          </p:cNvPr>
          <p:cNvSpPr/>
          <p:nvPr/>
        </p:nvSpPr>
        <p:spPr>
          <a:xfrm>
            <a:off x="6540075" y="1630944"/>
            <a:ext cx="2070279" cy="48247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Metode </a:t>
            </a:r>
            <a:r>
              <a:rPr lang="en-ID" sz="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pembayaran</a:t>
            </a:r>
            <a:r>
              <a:rPr lang="en-ID" sz="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ID" sz="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transaksi</a:t>
            </a:r>
            <a:r>
              <a:rPr lang="en-ID" sz="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terbanyak</a:t>
            </a:r>
            <a:r>
              <a:rPr lang="en-ID" sz="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adalah</a:t>
            </a:r>
            <a:r>
              <a:rPr lang="en-ID" sz="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pPr algn="ctr"/>
            <a:r>
              <a:rPr lang="en-ID" sz="800" dirty="0">
                <a:solidFill>
                  <a:schemeClr val="accent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Kartu </a:t>
            </a:r>
            <a:r>
              <a:rPr lang="en-ID" sz="800" dirty="0" err="1">
                <a:solidFill>
                  <a:schemeClr val="accent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kredit</a:t>
            </a:r>
            <a:r>
              <a:rPr lang="en-ID" sz="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8" name="Google Shape;112;p21">
            <a:extLst>
              <a:ext uri="{FF2B5EF4-FFF2-40B4-BE49-F238E27FC236}">
                <a16:creationId xmlns:a16="http://schemas.microsoft.com/office/drawing/2014/main" id="{0CA11552-73C7-F5F7-F511-C4425354AEC4}"/>
              </a:ext>
            </a:extLst>
          </p:cNvPr>
          <p:cNvSpPr txBox="1"/>
          <p:nvPr/>
        </p:nvSpPr>
        <p:spPr>
          <a:xfrm>
            <a:off x="587224" y="2684688"/>
            <a:ext cx="598109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sz="16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5FD6B7-00F4-1840-5C20-CAA588CAEB43}"/>
              </a:ext>
            </a:extLst>
          </p:cNvPr>
          <p:cNvSpPr/>
          <p:nvPr/>
        </p:nvSpPr>
        <p:spPr>
          <a:xfrm>
            <a:off x="5290425" y="3407977"/>
            <a:ext cx="2590347" cy="48247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Penjualan </a:t>
            </a:r>
            <a:r>
              <a:rPr lang="en-ID" sz="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terbanyak</a:t>
            </a:r>
            <a:r>
              <a:rPr lang="en-ID" sz="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dikota</a:t>
            </a:r>
            <a:r>
              <a:rPr lang="en-ID" sz="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Jakarta Adalah pada </a:t>
            </a:r>
            <a:r>
              <a:rPr lang="en-ID" sz="800" dirty="0" err="1">
                <a:solidFill>
                  <a:schemeClr val="accent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platorm</a:t>
            </a:r>
            <a:r>
              <a:rPr lang="en-ID" sz="800" dirty="0">
                <a:solidFill>
                  <a:schemeClr val="accent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Toko Fashion App</a:t>
            </a:r>
            <a:r>
              <a:rPr lang="en-ID" sz="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593096-5670-C829-1F8C-F2A46843683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945"/>
          <a:stretch>
            <a:fillRect/>
          </a:stretch>
        </p:blipFill>
        <p:spPr>
          <a:xfrm>
            <a:off x="1065592" y="1331599"/>
            <a:ext cx="2345901" cy="1081159"/>
          </a:xfrm>
          <a:prstGeom prst="rect">
            <a:avLst/>
          </a:prstGeom>
        </p:spPr>
      </p:pic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00000000-0008-0000-0000-0000030000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4917192"/>
              </p:ext>
            </p:extLst>
          </p:nvPr>
        </p:nvGraphicFramePr>
        <p:xfrm>
          <a:off x="3740996" y="1253052"/>
          <a:ext cx="2436130" cy="14329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E28B2E8E-DDE6-8291-DC2D-88B9D229A3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44"/>
          <a:stretch>
            <a:fillRect/>
          </a:stretch>
        </p:blipFill>
        <p:spPr>
          <a:xfrm>
            <a:off x="1065592" y="2757052"/>
            <a:ext cx="3832979" cy="1839442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F7A2565-6BCD-67DC-FE9E-C4E2725C185C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3411493" y="1872179"/>
            <a:ext cx="3629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4658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/>
        </p:nvSpPr>
        <p:spPr>
          <a:xfrm>
            <a:off x="3015525" y="537375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Task 5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6E4D51-E14F-CDB1-DE9F-22140C43ED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474" y="1273628"/>
            <a:ext cx="6115051" cy="343971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/>
          <p:nvPr/>
        </p:nvSpPr>
        <p:spPr>
          <a:xfrm>
            <a:off x="3831225" y="609525"/>
            <a:ext cx="2918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3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RESULT</a:t>
            </a:r>
            <a:endParaRPr sz="30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75301A-239F-6615-EBD6-5B96F78B7C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9852" y="1075801"/>
            <a:ext cx="4984296" cy="372112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/>
        </p:nvSpPr>
        <p:spPr>
          <a:xfrm>
            <a:off x="3015525" y="537375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Task 6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AF561B-9E69-E66C-1A76-B3FDA30B03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6028" y="1208316"/>
            <a:ext cx="6291943" cy="353921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1">
          <a:extLst>
            <a:ext uri="{FF2B5EF4-FFF2-40B4-BE49-F238E27FC236}">
              <a16:creationId xmlns:a16="http://schemas.microsoft.com/office/drawing/2014/main" id="{6C75966D-F36F-9A9F-5EB5-67D96DE4D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>
            <a:extLst>
              <a:ext uri="{FF2B5EF4-FFF2-40B4-BE49-F238E27FC236}">
                <a16:creationId xmlns:a16="http://schemas.microsoft.com/office/drawing/2014/main" id="{180E5BBB-A3D9-6A43-C39A-C252580477B8}"/>
              </a:ext>
            </a:extLst>
          </p:cNvPr>
          <p:cNvSpPr txBox="1"/>
          <p:nvPr/>
        </p:nvSpPr>
        <p:spPr>
          <a:xfrm>
            <a:off x="3831225" y="609525"/>
            <a:ext cx="2918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3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RESULT</a:t>
            </a:r>
            <a:endParaRPr sz="30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492228-18DC-9118-7F6F-8CA1D353F7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209" y="1345685"/>
            <a:ext cx="4556216" cy="214046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E7ED72F-51B8-68F7-9BBE-CA5C8EA232D4}"/>
              </a:ext>
            </a:extLst>
          </p:cNvPr>
          <p:cNvSpPr/>
          <p:nvPr/>
        </p:nvSpPr>
        <p:spPr>
          <a:xfrm>
            <a:off x="5349240" y="1256024"/>
            <a:ext cx="3460024" cy="33812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000" b="1" dirty="0" err="1">
                <a:solidFill>
                  <a:schemeClr val="accent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Tahapan</a:t>
            </a:r>
            <a:r>
              <a:rPr lang="en-ID" sz="1000" b="1" dirty="0">
                <a:solidFill>
                  <a:schemeClr val="accent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  <a:p>
            <a:endParaRPr lang="en-ID" sz="1000" b="1" dirty="0">
              <a:solidFill>
                <a:schemeClr val="accent1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D" sz="10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Aktifkan</a:t>
            </a:r>
            <a:r>
              <a:rPr lang="en-ID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Developer Tab dan VBA Macros </a:t>
            </a:r>
            <a:r>
              <a:rPr lang="en-ID" sz="10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melalui</a:t>
            </a:r>
            <a:r>
              <a:rPr lang="en-ID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File → Options → Customize Ribbon </a:t>
            </a:r>
            <a:r>
              <a:rPr lang="en-ID" sz="10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serta</a:t>
            </a:r>
            <a:r>
              <a:rPr lang="en-ID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Macro Security.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D" sz="10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Rekam</a:t>
            </a:r>
            <a:r>
              <a:rPr lang="en-ID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Macro </a:t>
            </a:r>
            <a:r>
              <a:rPr lang="en-ID" sz="10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ID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0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melakukan</a:t>
            </a:r>
            <a:r>
              <a:rPr lang="en-ID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Text to Columns dan </a:t>
            </a:r>
            <a:r>
              <a:rPr lang="en-ID" sz="10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membuat</a:t>
            </a:r>
            <a:r>
              <a:rPr lang="en-ID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0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kolom</a:t>
            </a:r>
            <a:r>
              <a:rPr lang="en-ID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Bulan </a:t>
            </a:r>
            <a:r>
              <a:rPr lang="en-ID" sz="10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menggunakan</a:t>
            </a:r>
            <a:r>
              <a:rPr lang="en-ID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0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rumus</a:t>
            </a:r>
            <a:r>
              <a:rPr lang="en-ID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=TEXT(B2,"MMM").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D" sz="10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Tambahkan</a:t>
            </a:r>
            <a:r>
              <a:rPr lang="en-ID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0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notifikasi</a:t>
            </a:r>
            <a:r>
              <a:rPr lang="en-ID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0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MsgBox</a:t>
            </a:r>
            <a:r>
              <a:rPr lang="en-ID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pada Visual Basic </a:t>
            </a:r>
            <a:r>
              <a:rPr lang="en-ID" sz="10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sebagai</a:t>
            </a:r>
            <a:r>
              <a:rPr lang="en-ID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0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penanda</a:t>
            </a:r>
            <a:r>
              <a:rPr lang="en-ID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0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bahwa</a:t>
            </a:r>
            <a:r>
              <a:rPr lang="en-ID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proses </a:t>
            </a:r>
            <a:r>
              <a:rPr lang="en-ID" sz="10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telah</a:t>
            </a:r>
            <a:r>
              <a:rPr lang="en-ID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0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selesai</a:t>
            </a:r>
            <a:r>
              <a:rPr lang="en-ID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D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Buat Button (Shape), </a:t>
            </a:r>
            <a:r>
              <a:rPr lang="en-ID" sz="10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lalu</a:t>
            </a:r>
            <a:r>
              <a:rPr lang="en-ID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0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hubungkan</a:t>
            </a:r>
            <a:r>
              <a:rPr lang="en-ID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0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ID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Macro </a:t>
            </a:r>
            <a:r>
              <a:rPr lang="en-ID" sz="10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melalui</a:t>
            </a:r>
            <a:r>
              <a:rPr lang="en-ID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Assign Macro.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D" sz="10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Impor</a:t>
            </a:r>
            <a:r>
              <a:rPr lang="en-ID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file .bas </a:t>
            </a:r>
            <a:r>
              <a:rPr lang="en-ID" sz="10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</a:t>
            </a:r>
            <a:r>
              <a:rPr lang="en-ID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sheet Narrative Analysis </a:t>
            </a:r>
            <a:r>
              <a:rPr lang="en-ID" sz="10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melalui</a:t>
            </a:r>
            <a:r>
              <a:rPr lang="en-ID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Visual Basic → Import File.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D" sz="10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Hitung</a:t>
            </a:r>
            <a:r>
              <a:rPr lang="en-ID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Total Sales, Total Quantity, Average Rating, dan Total Shipping Fee </a:t>
            </a:r>
            <a:r>
              <a:rPr lang="en-ID" sz="10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menggunakan</a:t>
            </a:r>
            <a:r>
              <a:rPr lang="en-ID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0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rumus</a:t>
            </a:r>
            <a:r>
              <a:rPr lang="en-ID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SUMIF dan AVERAGEIF </a:t>
            </a:r>
            <a:r>
              <a:rPr lang="en-ID" sz="10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berdasarkan</a:t>
            </a:r>
            <a:r>
              <a:rPr lang="en-ID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0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bulan</a:t>
            </a:r>
            <a:r>
              <a:rPr lang="en-ID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D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Buat </a:t>
            </a:r>
            <a:r>
              <a:rPr lang="en-ID" sz="10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tombol</a:t>
            </a:r>
            <a:r>
              <a:rPr lang="en-ID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Generate Summary, </a:t>
            </a:r>
            <a:r>
              <a:rPr lang="en-ID" sz="10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hubungkan</a:t>
            </a:r>
            <a:r>
              <a:rPr lang="en-ID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0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ID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Macro, </a:t>
            </a:r>
            <a:r>
              <a:rPr lang="en-ID" sz="10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kemudian</a:t>
            </a:r>
            <a:r>
              <a:rPr lang="en-ID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0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jalankan</a:t>
            </a:r>
            <a:r>
              <a:rPr lang="en-ID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0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ID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0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menampilkan</a:t>
            </a:r>
            <a:r>
              <a:rPr lang="en-ID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Executive Summary </a:t>
            </a:r>
            <a:r>
              <a:rPr lang="en-ID" sz="10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secara</a:t>
            </a:r>
            <a:r>
              <a:rPr lang="en-ID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0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otomatis</a:t>
            </a:r>
            <a:r>
              <a:rPr lang="en-ID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497776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32" title="BT EXCEL - Batch 8 (1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2"/>
          <p:cNvSpPr txBox="1"/>
          <p:nvPr/>
        </p:nvSpPr>
        <p:spPr>
          <a:xfrm>
            <a:off x="3070075" y="950475"/>
            <a:ext cx="5492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 b="1" dirty="0">
                <a:solidFill>
                  <a:schemeClr val="dk1"/>
                </a:solidFill>
              </a:rPr>
              <a:t>Lampiran Penugasan </a:t>
            </a:r>
            <a:endParaRPr sz="1800" b="1" dirty="0">
              <a:solidFill>
                <a:schemeClr val="dk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C69343-AF49-3045-8F3C-6FDEA7459D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3217" y="1771609"/>
            <a:ext cx="1600282" cy="160028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33" title="BT EXCEL - Batch 8 (1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3"/>
          <p:cNvSpPr txBox="1"/>
          <p:nvPr/>
        </p:nvSpPr>
        <p:spPr>
          <a:xfrm>
            <a:off x="3054675" y="935075"/>
            <a:ext cx="5153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 b="1">
                <a:solidFill>
                  <a:schemeClr val="dk1"/>
                </a:solidFill>
              </a:rPr>
              <a:t>Dokumentasi Kegiatan 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9A071B-8F8E-D2C8-5367-C9D2473F70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0056" y="1396775"/>
            <a:ext cx="4835244" cy="275517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34" title="BT EXCEL - Batch 8 (9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1462</TotalTime>
  <Words>1081</Words>
  <Application>Microsoft Office PowerPoint</Application>
  <PresentationFormat>On-screen Show (16:9)</PresentationFormat>
  <Paragraphs>224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Poppins</vt:lpstr>
      <vt:lpstr>Arial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siti jahrona rambe</dc:creator>
  <cp:lastModifiedBy>siti jahrona rambe</cp:lastModifiedBy>
  <cp:revision>4</cp:revision>
  <dcterms:modified xsi:type="dcterms:W3CDTF">2026-07-13T09:34:03Z</dcterms:modified>
</cp:coreProperties>
</file>